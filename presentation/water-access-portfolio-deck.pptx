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B87192-42FB-2A8A-AAE2-69AEE75A6133}">
          <p14:sldIdLst>
            <p14:sldId id="256"/>
          </p14:sldIdLst>
        </p14:section>
        <p14:section name="Default-1" id="{282C7D48-3533-0F3E-60F5-49591BF11584}">
          <p14:sldIdLst>
            <p14:sldId id="257"/>
            <p14:sldId id="258"/>
            <p14:sldId id="259"/>
          </p14:sldIdLst>
        </p14:section>
        <p14:section name="Part 1: 2020 snapshot" id="{8B5DFEE8-276F-E9EF-6EFD-7531B097413F}">
          <p14:sldIdLst>
            <p14:sldId id="260"/>
            <p14:sldId id="261"/>
            <p14:sldId id="262"/>
            <p14:sldId id="263"/>
            <p14:sldId id="264"/>
            <p14:sldId id="265"/>
            <p14:sldId id="266"/>
            <p14:sldId id="267"/>
          </p14:sldIdLst>
        </p14:section>
        <p14:section name="Part 2: change over time" id="{47297214-1B17-AA37-68CC-72655B12E7FF}">
          <p14:sldIdLst>
            <p14:sldId id="268"/>
            <p14:sldId id="269"/>
            <p14:sldId id="270"/>
            <p14:sldId id="271"/>
            <p14:sldId id="272"/>
            <p14:sldId id="273"/>
            <p14:sldId id="274"/>
          </p14:sldIdLst>
        </p14:section>
        <p14:section name="Wrap-up" id="{6B133B56-3CB1-B0A1-D0F4-6B32171BA82B}">
          <p14:sldIdLst>
            <p14:sldId id="275"/>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60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mbria"/>
              </a:defRPr>
            </a:pPr>
            <a:r>
              <a:rPr lang="en-US" sz="1300" b="0" i="0" u="none" strike="noStrike">
                <a:solidFill>
                  <a:srgbClr val="0B2545"/>
                </a:solidFill>
                <a:latin typeface="Cambria"/>
              </a:rPr>
              <a:t>Dataset vs world estimate, 2020</a:t>
            </a:r>
          </a:p>
        </c:rich>
      </c:tx>
      <c:overlay val="0"/>
    </c:title>
    <c:autoTitleDeleted val="0"/>
    <c:plotArea>
      <c:layout/>
      <c:barChart>
        <c:barDir val="col"/>
        <c:grouping val="clustered"/>
        <c:varyColors val="0"/>
        <c:ser>
          <c:idx val="0"/>
          <c:order val="0"/>
          <c:tx>
            <c:strRef>
              <c:f>Sheet1!$B$1</c:f>
              <c:strCache>
                <c:ptCount val="1"/>
                <c:pt idx="0">
                  <c:v>Dataset</c:v>
                </c:pt>
              </c:strCache>
            </c:strRef>
          </c:tx>
          <c:spPr>
            <a:solidFill>
              <a:srgbClr val="1B7F9E"/>
            </a:solidFill>
            <a:effectLst/>
          </c:spPr>
          <c:invertIfNegative val="0"/>
          <c:dLbls>
            <c:numFmt formatCode="0.00" sourceLinked="0"/>
            <c:spPr>
              <a:noFill/>
              <a:ln>
                <a:noFill/>
              </a:ln>
              <a:effectLst/>
            </c:spPr>
            <c:txPr>
              <a:bodyPr/>
              <a:lstStyle/>
              <a:p>
                <a:pPr>
                  <a:defRPr sz="10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Total population (bn)</c:v>
                </c:pt>
                <c:pt idx="1">
                  <c:v>Urban population (bn)</c:v>
                </c:pt>
              </c:strCache>
            </c:strRef>
          </c:cat>
          <c:val>
            <c:numRef>
              <c:f>Sheet1!$B$2:$B$3</c:f>
              <c:numCache>
                <c:formatCode>General</c:formatCode>
                <c:ptCount val="2"/>
                <c:pt idx="0">
                  <c:v>7.7866951077512319</c:v>
                </c:pt>
                <c:pt idx="1">
                  <c:v>4.3753084624999996</c:v>
                </c:pt>
              </c:numCache>
            </c:numRef>
          </c:val>
          <c:extLst>
            <c:ext xmlns:c16="http://schemas.microsoft.com/office/drawing/2014/chart" uri="{C3380CC4-5D6E-409C-BE32-E72D297353CC}">
              <c16:uniqueId val="{00000000-56FB-465C-B329-BE475839724A}"/>
            </c:ext>
          </c:extLst>
        </c:ser>
        <c:ser>
          <c:idx val="1"/>
          <c:order val="1"/>
          <c:tx>
            <c:strRef>
              <c:f>Sheet1!$C$1</c:f>
              <c:strCache>
                <c:ptCount val="1"/>
                <c:pt idx="0">
                  <c:v>World estimate</c:v>
                </c:pt>
              </c:strCache>
            </c:strRef>
          </c:tx>
          <c:spPr>
            <a:solidFill>
              <a:srgbClr val="9AA7B4"/>
            </a:solidFill>
            <a:effectLst/>
          </c:spPr>
          <c:invertIfNegative val="0"/>
          <c:dLbls>
            <c:numFmt formatCode="0.00" sourceLinked="0"/>
            <c:spPr>
              <a:noFill/>
              <a:ln>
                <a:noFill/>
              </a:ln>
              <a:effectLst/>
            </c:spPr>
            <c:txPr>
              <a:bodyPr/>
              <a:lstStyle/>
              <a:p>
                <a:pPr>
                  <a:defRPr sz="10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Total population (bn)</c:v>
                </c:pt>
                <c:pt idx="1">
                  <c:v>Urban population (bn)</c:v>
                </c:pt>
              </c:strCache>
            </c:strRef>
          </c:cat>
          <c:val>
            <c:numRef>
              <c:f>Sheet1!$C$2:$C$3</c:f>
              <c:numCache>
                <c:formatCode>General</c:formatCode>
                <c:ptCount val="2"/>
                <c:pt idx="0">
                  <c:v>7.8209999999999997</c:v>
                </c:pt>
                <c:pt idx="1">
                  <c:v>4.3015499999999998</c:v>
                </c:pt>
              </c:numCache>
            </c:numRef>
          </c:val>
          <c:extLst>
            <c:ext xmlns:c16="http://schemas.microsoft.com/office/drawing/2014/chart" uri="{C3380CC4-5D6E-409C-BE32-E72D297353CC}">
              <c16:uniqueId val="{00000001-56FB-465C-B329-BE475839724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Calibri"/>
              </a:defRPr>
            </a:pPr>
            <a:endParaRPr lang="en-US"/>
          </a:p>
        </c:txPr>
        <c:crossAx val="2094734552"/>
        <c:crosses val="autoZero"/>
        <c:auto val="1"/>
        <c:lblAlgn val="ctr"/>
        <c:lblOffset val="100"/>
        <c:noMultiLvlLbl val="1"/>
      </c:catAx>
      <c:valAx>
        <c:axId val="2094734552"/>
        <c:scaling>
          <c:orientation val="minMax"/>
          <c:max val="9"/>
          <c:min val="0"/>
        </c:scaling>
        <c:delete val="0"/>
        <c:axPos val="l"/>
        <c:majorGridlines>
          <c:spPr>
            <a:ln w="6350" cap="flat">
              <a:solidFill>
                <a:srgbClr val="D5DF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B7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mbria"/>
              </a:defRPr>
            </a:pPr>
            <a:r>
              <a:rPr lang="en-US" sz="1300" b="0" i="0" u="none" strike="noStrike">
                <a:solidFill>
                  <a:srgbClr val="0B2545"/>
                </a:solidFill>
                <a:latin typeface="Cambria"/>
              </a:rPr>
              <a:t>Mean share of population, % (2020)</a:t>
            </a:r>
          </a:p>
        </c:rich>
      </c:tx>
      <c:overlay val="0"/>
    </c:title>
    <c:autoTitleDeleted val="0"/>
    <c:plotArea>
      <c:layout/>
      <c:barChart>
        <c:barDir val="col"/>
        <c:grouping val="clustered"/>
        <c:varyColors val="0"/>
        <c:ser>
          <c:idx val="0"/>
          <c:order val="0"/>
          <c:tx>
            <c:strRef>
              <c:f>Sheet1!$B$1</c:f>
              <c:strCache>
                <c:ptCount val="1"/>
                <c:pt idx="0">
                  <c:v>National</c:v>
                </c:pt>
              </c:strCache>
            </c:strRef>
          </c:tx>
          <c:spPr>
            <a:solidFill>
              <a:srgbClr val="0B2545"/>
            </a:solidFill>
            <a:effectLst/>
          </c:spPr>
          <c:invertIfNegative val="0"/>
          <c:dLbls>
            <c:numFmt formatCode="0.0" sourceLinked="0"/>
            <c:spPr>
              <a:noFill/>
              <a:ln>
                <a:noFill/>
              </a:ln>
              <a:effectLst/>
            </c:spPr>
            <c:txPr>
              <a:bodyPr/>
              <a:lstStyle/>
              <a:p>
                <a:pPr>
                  <a:defRPr sz="10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Limited</c:v>
                </c:pt>
                <c:pt idx="1">
                  <c:v>Unimproved</c:v>
                </c:pt>
                <c:pt idx="2">
                  <c:v>Surface</c:v>
                </c:pt>
              </c:strCache>
            </c:strRef>
          </c:cat>
          <c:val>
            <c:numRef>
              <c:f>Sheet1!$B$2:$B$4</c:f>
              <c:numCache>
                <c:formatCode>General</c:formatCode>
                <c:ptCount val="3"/>
                <c:pt idx="0">
                  <c:v>3.8652653448826961</c:v>
                </c:pt>
                <c:pt idx="1">
                  <c:v>4.4180106537201356</c:v>
                </c:pt>
                <c:pt idx="2">
                  <c:v>1.9154885837974707</c:v>
                </c:pt>
              </c:numCache>
            </c:numRef>
          </c:val>
          <c:extLst>
            <c:ext xmlns:c16="http://schemas.microsoft.com/office/drawing/2014/chart" uri="{C3380CC4-5D6E-409C-BE32-E72D297353CC}">
              <c16:uniqueId val="{00000000-DCD7-4E40-A826-76B17DEF616C}"/>
            </c:ext>
          </c:extLst>
        </c:ser>
        <c:ser>
          <c:idx val="1"/>
          <c:order val="1"/>
          <c:tx>
            <c:strRef>
              <c:f>Sheet1!$C$1</c:f>
              <c:strCache>
                <c:ptCount val="1"/>
                <c:pt idx="0">
                  <c:v>Rural</c:v>
                </c:pt>
              </c:strCache>
            </c:strRef>
          </c:tx>
          <c:spPr>
            <a:solidFill>
              <a:srgbClr val="E07A3F"/>
            </a:solidFill>
            <a:effectLst/>
          </c:spPr>
          <c:invertIfNegative val="0"/>
          <c:dLbls>
            <c:numFmt formatCode="0.0" sourceLinked="0"/>
            <c:spPr>
              <a:noFill/>
              <a:ln>
                <a:noFill/>
              </a:ln>
              <a:effectLst/>
            </c:spPr>
            <c:txPr>
              <a:bodyPr/>
              <a:lstStyle/>
              <a:p>
                <a:pPr>
                  <a:defRPr sz="10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Limited</c:v>
                </c:pt>
                <c:pt idx="1">
                  <c:v>Unimproved</c:v>
                </c:pt>
                <c:pt idx="2">
                  <c:v>Surface</c:v>
                </c:pt>
              </c:strCache>
            </c:strRef>
          </c:cat>
          <c:val>
            <c:numRef>
              <c:f>Sheet1!$C$2:$C$4</c:f>
              <c:numCache>
                <c:formatCode>General</c:formatCode>
                <c:ptCount val="3"/>
                <c:pt idx="0">
                  <c:v>5.8365625479550118</c:v>
                </c:pt>
                <c:pt idx="1">
                  <c:v>8.732261484443903</c:v>
                </c:pt>
                <c:pt idx="2">
                  <c:v>4.2240396376764151</c:v>
                </c:pt>
              </c:numCache>
            </c:numRef>
          </c:val>
          <c:extLst>
            <c:ext xmlns:c16="http://schemas.microsoft.com/office/drawing/2014/chart" uri="{C3380CC4-5D6E-409C-BE32-E72D297353CC}">
              <c16:uniqueId val="{00000001-DCD7-4E40-A826-76B17DEF616C}"/>
            </c:ext>
          </c:extLst>
        </c:ser>
        <c:ser>
          <c:idx val="2"/>
          <c:order val="2"/>
          <c:tx>
            <c:strRef>
              <c:f>Sheet1!$D$1</c:f>
              <c:strCache>
                <c:ptCount val="1"/>
                <c:pt idx="0">
                  <c:v>Urban</c:v>
                </c:pt>
              </c:strCache>
            </c:strRef>
          </c:tx>
          <c:spPr>
            <a:solidFill>
              <a:srgbClr val="1B7F9E"/>
            </a:solidFill>
            <a:effectLst/>
          </c:spPr>
          <c:invertIfNegative val="0"/>
          <c:dLbls>
            <c:numFmt formatCode="0.0" sourceLinked="0"/>
            <c:spPr>
              <a:noFill/>
              <a:ln>
                <a:noFill/>
              </a:ln>
              <a:effectLst/>
            </c:spPr>
            <c:txPr>
              <a:bodyPr/>
              <a:lstStyle/>
              <a:p>
                <a:pPr>
                  <a:defRPr sz="10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Limited</c:v>
                </c:pt>
                <c:pt idx="1">
                  <c:v>Unimproved</c:v>
                </c:pt>
                <c:pt idx="2">
                  <c:v>Surface</c:v>
                </c:pt>
              </c:strCache>
            </c:strRef>
          </c:cat>
          <c:val>
            <c:numRef>
              <c:f>Sheet1!$D$2:$D$4</c:f>
              <c:numCache>
                <c:formatCode>General</c:formatCode>
                <c:ptCount val="3"/>
                <c:pt idx="0">
                  <c:v>3.2818386537552571</c:v>
                </c:pt>
                <c:pt idx="1">
                  <c:v>1.718785209517564</c:v>
                </c:pt>
                <c:pt idx="2">
                  <c:v>0.31311484427656067</c:v>
                </c:pt>
              </c:numCache>
            </c:numRef>
          </c:val>
          <c:extLst>
            <c:ext xmlns:c16="http://schemas.microsoft.com/office/drawing/2014/chart" uri="{C3380CC4-5D6E-409C-BE32-E72D297353CC}">
              <c16:uniqueId val="{00000002-DCD7-4E40-A826-76B17DEF616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Calibri"/>
              </a:defRPr>
            </a:pPr>
            <a:endParaRPr lang="en-US"/>
          </a:p>
        </c:txPr>
        <c:crossAx val="2094734552"/>
        <c:crosses val="autoZero"/>
        <c:auto val="1"/>
        <c:lblAlgn val="ctr"/>
        <c:lblOffset val="100"/>
        <c:noMultiLvlLbl val="1"/>
      </c:catAx>
      <c:valAx>
        <c:axId val="2094734552"/>
        <c:scaling>
          <c:orientation val="minMax"/>
          <c:max val="10"/>
          <c:min val="0"/>
        </c:scaling>
        <c:delete val="0"/>
        <c:axPos val="l"/>
        <c:majorGridlines>
          <c:spPr>
            <a:ln w="6350" cap="flat">
              <a:solidFill>
                <a:srgbClr val="D5DFE6"/>
              </a:solidFill>
              <a:prstDash val="solid"/>
              <a:round/>
            </a:ln>
          </c:spPr>
        </c:majorGridlines>
        <c:title>
          <c:tx>
            <c:rich>
              <a:bodyPr/>
              <a:lstStyle/>
              <a:p>
                <a:pPr>
                  <a:defRPr sz="1000" b="0" i="0" u="none" strike="noStrike">
                    <a:solidFill>
                      <a:srgbClr val="5B6B7B"/>
                    </a:solidFill>
                    <a:latin typeface="Arial"/>
                  </a:defRPr>
                </a:pPr>
                <a:r>
                  <a:rPr lang="en-US" sz="1000" b="0" i="0" u="none" strike="noStrike">
                    <a:solidFill>
                      <a:srgbClr val="5B6B7B"/>
                    </a:solidFill>
                    <a:latin typeface="Arial"/>
                  </a:rPr>
                  <a:t>% of population</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B7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mbria"/>
              </a:defRPr>
            </a:pPr>
            <a:r>
              <a:rPr lang="en-US" sz="1300" b="0" i="0" u="none" strike="noStrike">
                <a:solidFill>
                  <a:srgbClr val="0B2545"/>
                </a:solidFill>
                <a:latin typeface="Cambria"/>
              </a:rPr>
              <a:t>Mean share of population by service level, % (2020)</a:t>
            </a:r>
          </a:p>
        </c:rich>
      </c:tx>
      <c:overlay val="0"/>
    </c:title>
    <c:autoTitleDeleted val="0"/>
    <c:plotArea>
      <c:layout/>
      <c:barChart>
        <c:barDir val="bar"/>
        <c:grouping val="stacked"/>
        <c:varyColors val="0"/>
        <c:ser>
          <c:idx val="0"/>
          <c:order val="0"/>
          <c:tx>
            <c:strRef>
              <c:f>Sheet1!$B$1</c:f>
              <c:strCache>
                <c:ptCount val="1"/>
                <c:pt idx="0">
                  <c:v>Basic</c:v>
                </c:pt>
              </c:strCache>
            </c:strRef>
          </c:tx>
          <c:spPr>
            <a:solidFill>
              <a:srgbClr val="1B7F9E"/>
            </a:solidFill>
            <a:effectLst/>
          </c:spPr>
          <c:invertIfNegative val="0"/>
          <c:dLbls>
            <c:numFmt formatCode="[&gt;=4]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c:v>
                </c:pt>
                <c:pt idx="1">
                  <c:v>Lower middle</c:v>
                </c:pt>
                <c:pt idx="2">
                  <c:v>Upper middle</c:v>
                </c:pt>
                <c:pt idx="3">
                  <c:v>High</c:v>
                </c:pt>
              </c:strCache>
            </c:strRef>
          </c:cat>
          <c:val>
            <c:numRef>
              <c:f>Sheet1!$B$2:$B$5</c:f>
              <c:numCache>
                <c:formatCode>General</c:formatCode>
                <c:ptCount val="4"/>
                <c:pt idx="0">
                  <c:v>62.82</c:v>
                </c:pt>
                <c:pt idx="1">
                  <c:v>82.21</c:v>
                </c:pt>
                <c:pt idx="2">
                  <c:v>96.43</c:v>
                </c:pt>
                <c:pt idx="3">
                  <c:v>99.56</c:v>
                </c:pt>
              </c:numCache>
            </c:numRef>
          </c:val>
          <c:extLst>
            <c:ext xmlns:c16="http://schemas.microsoft.com/office/drawing/2014/chart" uri="{C3380CC4-5D6E-409C-BE32-E72D297353CC}">
              <c16:uniqueId val="{00000000-BC11-4B37-9EE5-6C9B2BFA546F}"/>
            </c:ext>
          </c:extLst>
        </c:ser>
        <c:ser>
          <c:idx val="1"/>
          <c:order val="1"/>
          <c:tx>
            <c:strRef>
              <c:f>Sheet1!$C$1</c:f>
              <c:strCache>
                <c:ptCount val="1"/>
                <c:pt idx="0">
                  <c:v>Limited</c:v>
                </c:pt>
              </c:strCache>
            </c:strRef>
          </c:tx>
          <c:spPr>
            <a:solidFill>
              <a:srgbClr val="F2B134"/>
            </a:solidFill>
            <a:effectLst/>
          </c:spPr>
          <c:invertIfNegative val="0"/>
          <c:dLbls>
            <c:numFmt formatCode="[&gt;=4]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c:v>
                </c:pt>
                <c:pt idx="1">
                  <c:v>Lower middle</c:v>
                </c:pt>
                <c:pt idx="2">
                  <c:v>Upper middle</c:v>
                </c:pt>
                <c:pt idx="3">
                  <c:v>High</c:v>
                </c:pt>
              </c:strCache>
            </c:strRef>
          </c:cat>
          <c:val>
            <c:numRef>
              <c:f>Sheet1!$C$2:$C$5</c:f>
              <c:numCache>
                <c:formatCode>General</c:formatCode>
                <c:ptCount val="4"/>
                <c:pt idx="0">
                  <c:v>16.55</c:v>
                </c:pt>
                <c:pt idx="1">
                  <c:v>5.69</c:v>
                </c:pt>
                <c:pt idx="2">
                  <c:v>1.56</c:v>
                </c:pt>
                <c:pt idx="3">
                  <c:v>0.18</c:v>
                </c:pt>
              </c:numCache>
            </c:numRef>
          </c:val>
          <c:extLst>
            <c:ext xmlns:c16="http://schemas.microsoft.com/office/drawing/2014/chart" uri="{C3380CC4-5D6E-409C-BE32-E72D297353CC}">
              <c16:uniqueId val="{00000001-BC11-4B37-9EE5-6C9B2BFA546F}"/>
            </c:ext>
          </c:extLst>
        </c:ser>
        <c:ser>
          <c:idx val="2"/>
          <c:order val="2"/>
          <c:tx>
            <c:strRef>
              <c:f>Sheet1!$D$1</c:f>
              <c:strCache>
                <c:ptCount val="1"/>
                <c:pt idx="0">
                  <c:v>Unimproved</c:v>
                </c:pt>
              </c:strCache>
            </c:strRef>
          </c:tx>
          <c:spPr>
            <a:solidFill>
              <a:srgbClr val="E07A3F"/>
            </a:solidFill>
            <a:effectLst/>
          </c:spPr>
          <c:invertIfNegative val="0"/>
          <c:dLbls>
            <c:numFmt formatCode="[&gt;=4]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c:v>
                </c:pt>
                <c:pt idx="1">
                  <c:v>Lower middle</c:v>
                </c:pt>
                <c:pt idx="2">
                  <c:v>Upper middle</c:v>
                </c:pt>
                <c:pt idx="3">
                  <c:v>High</c:v>
                </c:pt>
              </c:strCache>
            </c:strRef>
          </c:cat>
          <c:val>
            <c:numRef>
              <c:f>Sheet1!$D$2:$D$5</c:f>
              <c:numCache>
                <c:formatCode>General</c:formatCode>
                <c:ptCount val="4"/>
                <c:pt idx="0">
                  <c:v>15.21</c:v>
                </c:pt>
                <c:pt idx="1">
                  <c:v>7.9</c:v>
                </c:pt>
                <c:pt idx="2">
                  <c:v>1.48</c:v>
                </c:pt>
                <c:pt idx="3">
                  <c:v>0.24</c:v>
                </c:pt>
              </c:numCache>
            </c:numRef>
          </c:val>
          <c:extLst>
            <c:ext xmlns:c16="http://schemas.microsoft.com/office/drawing/2014/chart" uri="{C3380CC4-5D6E-409C-BE32-E72D297353CC}">
              <c16:uniqueId val="{00000002-BC11-4B37-9EE5-6C9B2BFA546F}"/>
            </c:ext>
          </c:extLst>
        </c:ser>
        <c:ser>
          <c:idx val="3"/>
          <c:order val="3"/>
          <c:tx>
            <c:strRef>
              <c:f>Sheet1!$E$1</c:f>
              <c:strCache>
                <c:ptCount val="1"/>
                <c:pt idx="0">
                  <c:v>Surface</c:v>
                </c:pt>
              </c:strCache>
            </c:strRef>
          </c:tx>
          <c:spPr>
            <a:solidFill>
              <a:srgbClr val="B83227"/>
            </a:solidFill>
            <a:effectLst/>
          </c:spPr>
          <c:invertIfNegative val="0"/>
          <c:dLbls>
            <c:numFmt formatCode="[&gt;=4]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c:v>
                </c:pt>
                <c:pt idx="1">
                  <c:v>Lower middle</c:v>
                </c:pt>
                <c:pt idx="2">
                  <c:v>Upper middle</c:v>
                </c:pt>
                <c:pt idx="3">
                  <c:v>High</c:v>
                </c:pt>
              </c:strCache>
            </c:strRef>
          </c:cat>
          <c:val>
            <c:numRef>
              <c:f>Sheet1!$E$2:$E$5</c:f>
              <c:numCache>
                <c:formatCode>General</c:formatCode>
                <c:ptCount val="4"/>
                <c:pt idx="0">
                  <c:v>5.42</c:v>
                </c:pt>
                <c:pt idx="1">
                  <c:v>4.29</c:v>
                </c:pt>
                <c:pt idx="2">
                  <c:v>0.56999999999999995</c:v>
                </c:pt>
                <c:pt idx="3">
                  <c:v>0.02</c:v>
                </c:pt>
              </c:numCache>
            </c:numRef>
          </c:val>
          <c:extLst>
            <c:ext xmlns:c16="http://schemas.microsoft.com/office/drawing/2014/chart" uri="{C3380CC4-5D6E-409C-BE32-E72D297353CC}">
              <c16:uniqueId val="{00000003-BC11-4B37-9EE5-6C9B2BFA546F}"/>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B"/>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t"/>
        <c:majorGridlines>
          <c:spPr>
            <a:ln w="6350" cap="flat">
              <a:solidFill>
                <a:srgbClr val="D5DFE6"/>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B7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mbria"/>
              </a:defRPr>
            </a:pPr>
            <a:r>
              <a:rPr lang="en-US" sz="1300" b="0" i="0" u="none" strike="noStrike">
                <a:solidFill>
                  <a:srgbClr val="0B2545"/>
                </a:solidFill>
                <a:latin typeface="Cambria"/>
              </a:rPr>
              <a:t>Country-year observations by year</a:t>
            </a:r>
          </a:p>
        </c:rich>
      </c:tx>
      <c:overlay val="0"/>
    </c:title>
    <c:autoTitleDeleted val="0"/>
    <c:plotArea>
      <c:layout/>
      <c:barChart>
        <c:barDir val="col"/>
        <c:grouping val="clustered"/>
        <c:varyColors val="0"/>
        <c:ser>
          <c:idx val="0"/>
          <c:order val="0"/>
          <c:tx>
            <c:strRef>
              <c:f>Sheet1!$B$1</c:f>
              <c:strCache>
                <c:ptCount val="1"/>
                <c:pt idx="0">
                  <c:v>Observations</c:v>
                </c:pt>
              </c:strCache>
            </c:strRef>
          </c:tx>
          <c:spPr>
            <a:solidFill>
              <a:srgbClr val="1B7F9E"/>
            </a:solidFill>
            <a:effectLst/>
          </c:spPr>
          <c:invertIfNegative val="0"/>
          <c:dLbls>
            <c:numFmt formatCode="0" sourceLinked="0"/>
            <c:spPr>
              <a:noFill/>
              <a:ln>
                <a:noFill/>
              </a:ln>
              <a:effectLst/>
            </c:spPr>
            <c:txPr>
              <a:bodyPr/>
              <a:lstStyle/>
              <a:p>
                <a:pPr>
                  <a:defRPr sz="10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2015</c:v>
                </c:pt>
                <c:pt idx="1">
                  <c:v>2016</c:v>
                </c:pt>
                <c:pt idx="2">
                  <c:v>2017</c:v>
                </c:pt>
                <c:pt idx="3">
                  <c:v>2018</c:v>
                </c:pt>
                <c:pt idx="4">
                  <c:v>2019</c:v>
                </c:pt>
                <c:pt idx="5">
                  <c:v>2020</c:v>
                </c:pt>
              </c:strCache>
            </c:strRef>
          </c:cat>
          <c:val>
            <c:numRef>
              <c:f>Sheet1!$B$2:$B$7</c:f>
              <c:numCache>
                <c:formatCode>General</c:formatCode>
                <c:ptCount val="6"/>
                <c:pt idx="0">
                  <c:v>231</c:v>
                </c:pt>
                <c:pt idx="1">
                  <c:v>3</c:v>
                </c:pt>
                <c:pt idx="2">
                  <c:v>9</c:v>
                </c:pt>
                <c:pt idx="3">
                  <c:v>2</c:v>
                </c:pt>
                <c:pt idx="4">
                  <c:v>4</c:v>
                </c:pt>
                <c:pt idx="5">
                  <c:v>213</c:v>
                </c:pt>
              </c:numCache>
            </c:numRef>
          </c:val>
          <c:extLst>
            <c:ext xmlns:c16="http://schemas.microsoft.com/office/drawing/2014/chart" uri="{C3380CC4-5D6E-409C-BE32-E72D297353CC}">
              <c16:uniqueId val="{00000000-0352-4AED-B2C2-3210FD8D7A4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B"/>
                </a:solidFill>
                <a:latin typeface="Calibri"/>
              </a:defRPr>
            </a:pPr>
            <a:endParaRPr lang="en-US"/>
          </a:p>
        </c:txPr>
        <c:crossAx val="2094734552"/>
        <c:crosses val="autoZero"/>
        <c:auto val="1"/>
        <c:lblAlgn val="ctr"/>
        <c:lblOffset val="100"/>
        <c:noMultiLvlLbl val="1"/>
      </c:catAx>
      <c:valAx>
        <c:axId val="2094734552"/>
        <c:scaling>
          <c:orientation val="minMax"/>
          <c:max val="260"/>
          <c:min val="0"/>
        </c:scaling>
        <c:delete val="0"/>
        <c:axPos val="l"/>
        <c:majorGridlines>
          <c:spPr>
            <a:ln w="6350" cap="flat">
              <a:solidFill>
                <a:srgbClr val="D5DF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mbria"/>
              </a:defRPr>
            </a:pPr>
            <a:r>
              <a:rPr lang="en-US" sz="1300" b="0" i="0" u="none" strike="noStrike">
                <a:solidFill>
                  <a:srgbClr val="0B2545"/>
                </a:solidFill>
                <a:latin typeface="Cambria"/>
              </a:rPr>
              <a:t>Countries by direction of change in basic access</a:t>
            </a:r>
          </a:p>
        </c:rich>
      </c:tx>
      <c:overlay val="0"/>
    </c:title>
    <c:autoTitleDeleted val="0"/>
    <c:plotArea>
      <c:layout/>
      <c:barChart>
        <c:barDir val="bar"/>
        <c:grouping val="stacked"/>
        <c:varyColors val="0"/>
        <c:ser>
          <c:idx val="0"/>
          <c:order val="0"/>
          <c:tx>
            <c:strRef>
              <c:f>Sheet1!$B$1</c:f>
              <c:strCache>
                <c:ptCount val="1"/>
                <c:pt idx="0">
                  <c:v>Full access</c:v>
                </c:pt>
              </c:strCache>
            </c:strRef>
          </c:tx>
          <c:spPr>
            <a:solidFill>
              <a:srgbClr val="0B2545"/>
            </a:solidFill>
            <a:effectLst/>
          </c:spPr>
          <c:invertIfNegative val="0"/>
          <c:dLbls>
            <c:numFmt formatCode="[&gt;=12]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National</c:v>
                </c:pt>
                <c:pt idx="1">
                  <c:v>Rural</c:v>
                </c:pt>
                <c:pt idx="2">
                  <c:v>Urban</c:v>
                </c:pt>
              </c:strCache>
            </c:strRef>
          </c:cat>
          <c:val>
            <c:numRef>
              <c:f>Sheet1!$B$2:$B$4</c:f>
              <c:numCache>
                <c:formatCode>General</c:formatCode>
                <c:ptCount val="3"/>
                <c:pt idx="0">
                  <c:v>62</c:v>
                </c:pt>
                <c:pt idx="1">
                  <c:v>29</c:v>
                </c:pt>
                <c:pt idx="2">
                  <c:v>55</c:v>
                </c:pt>
              </c:numCache>
            </c:numRef>
          </c:val>
          <c:extLst>
            <c:ext xmlns:c16="http://schemas.microsoft.com/office/drawing/2014/chart" uri="{C3380CC4-5D6E-409C-BE32-E72D297353CC}">
              <c16:uniqueId val="{00000000-DA14-442E-B834-A3537834A2B9}"/>
            </c:ext>
          </c:extLst>
        </c:ser>
        <c:ser>
          <c:idx val="1"/>
          <c:order val="1"/>
          <c:tx>
            <c:strRef>
              <c:f>Sheet1!$C$1</c:f>
              <c:strCache>
                <c:ptCount val="1"/>
                <c:pt idx="0">
                  <c:v>Improving</c:v>
                </c:pt>
              </c:strCache>
            </c:strRef>
          </c:tx>
          <c:spPr>
            <a:solidFill>
              <a:srgbClr val="1B7F9E"/>
            </a:solidFill>
            <a:effectLst/>
          </c:spPr>
          <c:invertIfNegative val="0"/>
          <c:dLbls>
            <c:numFmt formatCode="[&gt;=12]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National</c:v>
                </c:pt>
                <c:pt idx="1">
                  <c:v>Rural</c:v>
                </c:pt>
                <c:pt idx="2">
                  <c:v>Urban</c:v>
                </c:pt>
              </c:strCache>
            </c:strRef>
          </c:cat>
          <c:val>
            <c:numRef>
              <c:f>Sheet1!$C$2:$C$4</c:f>
              <c:numCache>
                <c:formatCode>General</c:formatCode>
                <c:ptCount val="3"/>
                <c:pt idx="0">
                  <c:v>135</c:v>
                </c:pt>
                <c:pt idx="1">
                  <c:v>116</c:v>
                </c:pt>
                <c:pt idx="2">
                  <c:v>93</c:v>
                </c:pt>
              </c:numCache>
            </c:numRef>
          </c:val>
          <c:extLst>
            <c:ext xmlns:c16="http://schemas.microsoft.com/office/drawing/2014/chart" uri="{C3380CC4-5D6E-409C-BE32-E72D297353CC}">
              <c16:uniqueId val="{00000001-DA14-442E-B834-A3537834A2B9}"/>
            </c:ext>
          </c:extLst>
        </c:ser>
        <c:ser>
          <c:idx val="2"/>
          <c:order val="2"/>
          <c:tx>
            <c:strRef>
              <c:f>Sheet1!$D$1</c:f>
              <c:strCache>
                <c:ptCount val="1"/>
                <c:pt idx="0">
                  <c:v>No change</c:v>
                </c:pt>
              </c:strCache>
            </c:strRef>
          </c:tx>
          <c:spPr>
            <a:solidFill>
              <a:srgbClr val="F2B134"/>
            </a:solidFill>
            <a:effectLst/>
          </c:spPr>
          <c:invertIfNegative val="0"/>
          <c:dLbls>
            <c:numFmt formatCode="[&gt;=12]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National</c:v>
                </c:pt>
                <c:pt idx="1">
                  <c:v>Rural</c:v>
                </c:pt>
                <c:pt idx="2">
                  <c:v>Urban</c:v>
                </c:pt>
              </c:strCache>
            </c:strRef>
          </c:cat>
          <c:val>
            <c:numRef>
              <c:f>Sheet1!$D$2:$D$4</c:f>
              <c:numCache>
                <c:formatCode>General</c:formatCode>
                <c:ptCount val="3"/>
                <c:pt idx="0">
                  <c:v>16</c:v>
                </c:pt>
                <c:pt idx="1">
                  <c:v>5</c:v>
                </c:pt>
                <c:pt idx="2">
                  <c:v>7</c:v>
                </c:pt>
              </c:numCache>
            </c:numRef>
          </c:val>
          <c:extLst>
            <c:ext xmlns:c16="http://schemas.microsoft.com/office/drawing/2014/chart" uri="{C3380CC4-5D6E-409C-BE32-E72D297353CC}">
              <c16:uniqueId val="{00000002-DA14-442E-B834-A3537834A2B9}"/>
            </c:ext>
          </c:extLst>
        </c:ser>
        <c:ser>
          <c:idx val="3"/>
          <c:order val="3"/>
          <c:tx>
            <c:strRef>
              <c:f>Sheet1!$E$1</c:f>
              <c:strCache>
                <c:ptCount val="1"/>
                <c:pt idx="0">
                  <c:v>Declining</c:v>
                </c:pt>
              </c:strCache>
            </c:strRef>
          </c:tx>
          <c:spPr>
            <a:solidFill>
              <a:srgbClr val="B83227"/>
            </a:solidFill>
            <a:effectLst/>
          </c:spPr>
          <c:invertIfNegative val="0"/>
          <c:dLbls>
            <c:numFmt formatCode="[&gt;=12]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National</c:v>
                </c:pt>
                <c:pt idx="1">
                  <c:v>Rural</c:v>
                </c:pt>
                <c:pt idx="2">
                  <c:v>Urban</c:v>
                </c:pt>
              </c:strCache>
            </c:strRef>
          </c:cat>
          <c:val>
            <c:numRef>
              <c:f>Sheet1!$E$2:$E$4</c:f>
              <c:numCache>
                <c:formatCode>General</c:formatCode>
                <c:ptCount val="3"/>
                <c:pt idx="0">
                  <c:v>16</c:v>
                </c:pt>
                <c:pt idx="1">
                  <c:v>17</c:v>
                </c:pt>
                <c:pt idx="2">
                  <c:v>26</c:v>
                </c:pt>
              </c:numCache>
            </c:numRef>
          </c:val>
          <c:extLst>
            <c:ext xmlns:c16="http://schemas.microsoft.com/office/drawing/2014/chart" uri="{C3380CC4-5D6E-409C-BE32-E72D297353CC}">
              <c16:uniqueId val="{00000003-DA14-442E-B834-A3537834A2B9}"/>
            </c:ext>
          </c:extLst>
        </c:ser>
        <c:ser>
          <c:idx val="4"/>
          <c:order val="4"/>
          <c:tx>
            <c:strRef>
              <c:f>Sheet1!$F$1</c:f>
              <c:strCache>
                <c:ptCount val="1"/>
                <c:pt idx="0">
                  <c:v>No ARC (missing)</c:v>
                </c:pt>
              </c:strCache>
            </c:strRef>
          </c:tx>
          <c:spPr>
            <a:solidFill>
              <a:srgbClr val="9AA7B4"/>
            </a:solidFill>
            <a:effectLst/>
          </c:spPr>
          <c:invertIfNegative val="0"/>
          <c:dLbls>
            <c:numFmt formatCode="[&gt;=12]0;;" sourceLinked="0"/>
            <c:spPr>
              <a:noFill/>
              <a:ln>
                <a:noFill/>
              </a:ln>
              <a:effectLst/>
            </c:spPr>
            <c:txPr>
              <a:bodyPr/>
              <a:lstStyle/>
              <a:p>
                <a:pPr>
                  <a:defRPr sz="1000" b="1"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National</c:v>
                </c:pt>
                <c:pt idx="1">
                  <c:v>Rural</c:v>
                </c:pt>
                <c:pt idx="2">
                  <c:v>Urban</c:v>
                </c:pt>
              </c:strCache>
            </c:strRef>
          </c:cat>
          <c:val>
            <c:numRef>
              <c:f>Sheet1!$F$2:$F$4</c:f>
              <c:numCache>
                <c:formatCode>General</c:formatCode>
                <c:ptCount val="3"/>
                <c:pt idx="0">
                  <c:v>2</c:v>
                </c:pt>
                <c:pt idx="1">
                  <c:v>64</c:v>
                </c:pt>
                <c:pt idx="2">
                  <c:v>50</c:v>
                </c:pt>
              </c:numCache>
            </c:numRef>
          </c:val>
          <c:extLst>
            <c:ext xmlns:c16="http://schemas.microsoft.com/office/drawing/2014/chart" uri="{C3380CC4-5D6E-409C-BE32-E72D297353CC}">
              <c16:uniqueId val="{00000004-DA14-442E-B834-A3537834A2B9}"/>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B"/>
                </a:solidFill>
                <a:latin typeface="Calibri"/>
              </a:defRPr>
            </a:pPr>
            <a:endParaRPr lang="en-US"/>
          </a:p>
        </c:txPr>
        <c:crossAx val="2094734552"/>
        <c:crosses val="autoZero"/>
        <c:auto val="1"/>
        <c:lblAlgn val="ctr"/>
        <c:lblOffset val="100"/>
        <c:noMultiLvlLbl val="1"/>
      </c:catAx>
      <c:valAx>
        <c:axId val="2094734552"/>
        <c:scaling>
          <c:orientation val="minMax"/>
          <c:max val="231"/>
          <c:min val="0"/>
        </c:scaling>
        <c:delete val="0"/>
        <c:axPos val="t"/>
        <c:majorGridlines>
          <c:spPr>
            <a:ln w="6350" cap="flat">
              <a:solidFill>
                <a:srgbClr val="D5DFE6"/>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B7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Cambria"/>
              </a:defRPr>
            </a:pPr>
            <a:r>
              <a:rPr lang="en-US" sz="1300" b="0" i="0" u="none" strike="noStrike">
                <a:solidFill>
                  <a:srgbClr val="0B2545"/>
                </a:solidFill>
                <a:latin typeface="Cambria"/>
              </a:rPr>
              <a:t>Average ARC by region, pp per year</a:t>
            </a:r>
          </a:p>
        </c:rich>
      </c:tx>
      <c:overlay val="0"/>
    </c:title>
    <c:autoTitleDeleted val="0"/>
    <c:plotArea>
      <c:layout/>
      <c:barChart>
        <c:barDir val="bar"/>
        <c:grouping val="clustered"/>
        <c:varyColors val="0"/>
        <c:ser>
          <c:idx val="0"/>
          <c:order val="0"/>
          <c:tx>
            <c:strRef>
              <c:f>Sheet1!$B$1</c:f>
              <c:strCache>
                <c:ptCount val="1"/>
                <c:pt idx="0">
                  <c:v>National</c:v>
                </c:pt>
              </c:strCache>
            </c:strRef>
          </c:tx>
          <c:spPr>
            <a:solidFill>
              <a:srgbClr val="0B2545"/>
            </a:solidFill>
            <a:effectLst/>
          </c:spPr>
          <c:invertIfNegative val="0"/>
          <c:dLbls>
            <c:numFmt formatCode="0.00" sourceLinked="0"/>
            <c:spPr>
              <a:noFill/>
              <a:ln>
                <a:noFill/>
              </a:ln>
              <a:effectLst/>
            </c:spPr>
            <c:txPr>
              <a:bodyPr/>
              <a:lstStyle/>
              <a:p>
                <a:pPr>
                  <a:defRPr sz="9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North America</c:v>
                </c:pt>
                <c:pt idx="1">
                  <c:v>Europe, C. Asia</c:v>
                </c:pt>
                <c:pt idx="2">
                  <c:v>Latin America</c:v>
                </c:pt>
                <c:pt idx="3">
                  <c:v>East Asia, Pacific</c:v>
                </c:pt>
                <c:pt idx="4">
                  <c:v>MENA</c:v>
                </c:pt>
                <c:pt idx="5">
                  <c:v>South Asia</c:v>
                </c:pt>
                <c:pt idx="6">
                  <c:v>Sub-Saharan Africa</c:v>
                </c:pt>
              </c:strCache>
            </c:strRef>
          </c:cat>
          <c:val>
            <c:numRef>
              <c:f>Sheet1!$B$2:$B$8</c:f>
              <c:numCache>
                <c:formatCode>General</c:formatCode>
                <c:ptCount val="7"/>
                <c:pt idx="0">
                  <c:v>1.72E-2</c:v>
                </c:pt>
                <c:pt idx="1">
                  <c:v>0.11169999999999999</c:v>
                </c:pt>
                <c:pt idx="2">
                  <c:v>0.1444</c:v>
                </c:pt>
                <c:pt idx="3">
                  <c:v>0.27839999999999998</c:v>
                </c:pt>
                <c:pt idx="4">
                  <c:v>0.34560000000000002</c:v>
                </c:pt>
                <c:pt idx="5">
                  <c:v>0.48020000000000002</c:v>
                </c:pt>
                <c:pt idx="6">
                  <c:v>0.55830000000000002</c:v>
                </c:pt>
              </c:numCache>
            </c:numRef>
          </c:val>
          <c:extLst>
            <c:ext xmlns:c16="http://schemas.microsoft.com/office/drawing/2014/chart" uri="{C3380CC4-5D6E-409C-BE32-E72D297353CC}">
              <c16:uniqueId val="{00000000-1895-4E80-8AF7-5359C13992B0}"/>
            </c:ext>
          </c:extLst>
        </c:ser>
        <c:ser>
          <c:idx val="1"/>
          <c:order val="1"/>
          <c:tx>
            <c:strRef>
              <c:f>Sheet1!$C$1</c:f>
              <c:strCache>
                <c:ptCount val="1"/>
                <c:pt idx="0">
                  <c:v>Rural</c:v>
                </c:pt>
              </c:strCache>
            </c:strRef>
          </c:tx>
          <c:spPr>
            <a:solidFill>
              <a:srgbClr val="E07A3F"/>
            </a:solidFill>
            <a:effectLst/>
          </c:spPr>
          <c:invertIfNegative val="0"/>
          <c:dLbls>
            <c:numFmt formatCode="0.00" sourceLinked="0"/>
            <c:spPr>
              <a:noFill/>
              <a:ln>
                <a:noFill/>
              </a:ln>
              <a:effectLst/>
            </c:spPr>
            <c:txPr>
              <a:bodyPr/>
              <a:lstStyle/>
              <a:p>
                <a:pPr>
                  <a:defRPr sz="9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North America</c:v>
                </c:pt>
                <c:pt idx="1">
                  <c:v>Europe, C. Asia</c:v>
                </c:pt>
                <c:pt idx="2">
                  <c:v>Latin America</c:v>
                </c:pt>
                <c:pt idx="3">
                  <c:v>East Asia, Pacific</c:v>
                </c:pt>
                <c:pt idx="4">
                  <c:v>MENA</c:v>
                </c:pt>
                <c:pt idx="5">
                  <c:v>South Asia</c:v>
                </c:pt>
                <c:pt idx="6">
                  <c:v>Sub-Saharan Africa</c:v>
                </c:pt>
              </c:strCache>
            </c:strRef>
          </c:cat>
          <c:val>
            <c:numRef>
              <c:f>Sheet1!$C$2:$C$8</c:f>
              <c:numCache>
                <c:formatCode>General</c:formatCode>
                <c:ptCount val="7"/>
                <c:pt idx="0">
                  <c:v>0.14230000000000001</c:v>
                </c:pt>
                <c:pt idx="1">
                  <c:v>0.22439999999999999</c:v>
                </c:pt>
                <c:pt idx="2">
                  <c:v>0.68030000000000002</c:v>
                </c:pt>
                <c:pt idx="3">
                  <c:v>0.50780000000000003</c:v>
                </c:pt>
                <c:pt idx="4">
                  <c:v>0.73699999999999999</c:v>
                </c:pt>
                <c:pt idx="5">
                  <c:v>0.55910000000000004</c:v>
                </c:pt>
                <c:pt idx="6">
                  <c:v>0.60419999999999996</c:v>
                </c:pt>
              </c:numCache>
            </c:numRef>
          </c:val>
          <c:extLst>
            <c:ext xmlns:c16="http://schemas.microsoft.com/office/drawing/2014/chart" uri="{C3380CC4-5D6E-409C-BE32-E72D297353CC}">
              <c16:uniqueId val="{00000001-1895-4E80-8AF7-5359C13992B0}"/>
            </c:ext>
          </c:extLst>
        </c:ser>
        <c:ser>
          <c:idx val="2"/>
          <c:order val="2"/>
          <c:tx>
            <c:strRef>
              <c:f>Sheet1!$D$1</c:f>
              <c:strCache>
                <c:ptCount val="1"/>
                <c:pt idx="0">
                  <c:v>Urban</c:v>
                </c:pt>
              </c:strCache>
            </c:strRef>
          </c:tx>
          <c:spPr>
            <a:solidFill>
              <a:srgbClr val="1B7F9E"/>
            </a:solidFill>
            <a:effectLst/>
          </c:spPr>
          <c:invertIfNegative val="0"/>
          <c:dLbls>
            <c:numFmt formatCode="0.00" sourceLinked="0"/>
            <c:spPr>
              <a:noFill/>
              <a:ln>
                <a:noFill/>
              </a:ln>
              <a:effectLst/>
            </c:spPr>
            <c:txPr>
              <a:bodyPr/>
              <a:lstStyle/>
              <a:p>
                <a:pPr>
                  <a:defRPr sz="9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North America</c:v>
                </c:pt>
                <c:pt idx="1">
                  <c:v>Europe, C. Asia</c:v>
                </c:pt>
                <c:pt idx="2">
                  <c:v>Latin America</c:v>
                </c:pt>
                <c:pt idx="3">
                  <c:v>East Asia, Pacific</c:v>
                </c:pt>
                <c:pt idx="4">
                  <c:v>MENA</c:v>
                </c:pt>
                <c:pt idx="5">
                  <c:v>South Asia</c:v>
                </c:pt>
                <c:pt idx="6">
                  <c:v>Sub-Saharan Africa</c:v>
                </c:pt>
              </c:strCache>
            </c:strRef>
          </c:cat>
          <c:val>
            <c:numRef>
              <c:f>Sheet1!$D$2:$D$8</c:f>
              <c:numCache>
                <c:formatCode>General</c:formatCode>
                <c:ptCount val="7"/>
                <c:pt idx="0">
                  <c:v>2E-3</c:v>
                </c:pt>
                <c:pt idx="1">
                  <c:v>4.7E-2</c:v>
                </c:pt>
                <c:pt idx="2">
                  <c:v>7.1499999999999994E-2</c:v>
                </c:pt>
                <c:pt idx="3">
                  <c:v>0.23300000000000001</c:v>
                </c:pt>
                <c:pt idx="4">
                  <c:v>0.124</c:v>
                </c:pt>
                <c:pt idx="5">
                  <c:v>0.26550000000000001</c:v>
                </c:pt>
                <c:pt idx="6">
                  <c:v>0.27039999999999997</c:v>
                </c:pt>
              </c:numCache>
            </c:numRef>
          </c:val>
          <c:extLst>
            <c:ext xmlns:c16="http://schemas.microsoft.com/office/drawing/2014/chart" uri="{C3380CC4-5D6E-409C-BE32-E72D297353CC}">
              <c16:uniqueId val="{00000002-1895-4E80-8AF7-5359C13992B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B"/>
                </a:solidFill>
                <a:latin typeface="Calibri"/>
              </a:defRPr>
            </a:pPr>
            <a:endParaRPr lang="en-US"/>
          </a:p>
        </c:txPr>
        <c:crossAx val="2094734552"/>
        <c:crosses val="autoZero"/>
        <c:auto val="1"/>
        <c:lblAlgn val="ctr"/>
        <c:lblOffset val="100"/>
        <c:noMultiLvlLbl val="1"/>
      </c:catAx>
      <c:valAx>
        <c:axId val="2094734552"/>
        <c:scaling>
          <c:orientation val="minMax"/>
          <c:max val="0.9"/>
          <c:min val="0"/>
        </c:scaling>
        <c:delete val="0"/>
        <c:axPos val="b"/>
        <c:majorGridlines>
          <c:spPr>
            <a:ln w="6350" cap="flat">
              <a:solidFill>
                <a:srgbClr val="D5DFE6"/>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B7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6971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Portfolio walk-through of a two-part water-access analysis. Part 1 profiles the 2020 snapshot; Part 2 measures change between 2015 and 2020 using the Annual Rate of Change (ARC).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6 asks for safe and affordable drinking water for all. The JMP ladder used here has four levels: at least basic, limited, unimproved and surface water.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~770 million figure is derived from the 2020 dataset as the sum over countries of (100 - basic access %) x population, so it is approximate and slightly understated because two countries have no national value. The time-to-full-access figure is an illustrative linear extrapolation of unweighted regional averages.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parts follow the same loop. Spreadsheet formulas were used to build every feature, and a Python script reproduces them and checks the results against the workbooks.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rows were delimited by semicolons, so their values sat in one cell. COUNTA over each row should return 16 (one per feature); filtering out 16 isolates the broken rows. Nine national basic-access values were slightly above 100% (maximum 100.0000037), which is impossible for a share.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 difference = |V2 - V1| / ((V1 + V2) / 2) x 100. The urban percentage and the urban head count differ because the head count is built country by country from pop_n x pop_u / 100, while the world figure applies one 55% share.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line chart was unreadable: China and India (over 1.3 billion each) stretch the x-axis so 200+ countries are squashed together. I weighed three fixes: delete outliers (loses countries), cap the axis (hides the largest) or change the unit. The log-scale scatter keeps every country visible.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median, mode, quartiles, IQR and standard deviation were computed for all 12 service-level features. Means exclude countries with no value for that feature. Mean below median means a left-skewed distribution: most countries sit near 100% with a long tail of low-access countries.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access dominates every column, so this chart shows the three lower rungs of the ladder where the differences are visible. Rural surface-water use is about 13 times the urban 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show average service-level shares for countries grouped into 10-point bins of urban (left) or rural (right) population share. Correlation between population size and basic access is essentially zero; between urban share and basic access it is 0.55.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table grouped by income_group with the average of each national service level. Sixteen countries have no income classification and are left out of this chart.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point is a country. Almost every high-income country sits at the top right; the low-income countries cluster lower left with basic access between roughly 40% and 90%.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by name then year showed that each country has exactly two rows. y_diff = year(n+1) - year(n) only when the country names match. y_diff = 0 would flag duplicates (none remain after cleaning). The year histogram has two peaks, so the distribution is neither normal nor skewed.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ARC_x = (access in later year - access in earlier year) / (later year - earlier year), computed only when the next row is the same country. IFERROR returns null where either year has no estimate. Rural ARC is missing for 64 countries and urban ARC for 50.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country falls into exactly one bucket: missing ARC, full access in both years, ARC = 0, ARC &lt; 0 or ARC &gt; 0 (the last three excluding full-access countries). The counts add to 231 for national, rural and urban. Rural ARC is missing for 64 countries.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ARC_diff = ARC_r - ARC_u in percentage points per year, available for 165 countries with both values. A positive value means rural access improved faster.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comes from the supplied country-to-region mapping (LOOKUP on country name). Averages are unweighted across countries. Some labels look unconventional (Tunisia is Sub-Saharan Africa; Philippines, Malaysia and Iran are South Asia), so the small regions (South Asia n=11, MENA n=10) are sensitive to the mapping.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bubble is a country; size is population; colour is region. Points above the dashed line saw faster rural than national progress. Sub-Saharan Africa's national ARC runs from -1.02 (Central African Republic) to 2.44.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extension, not a forecast. It extrapolates each region's average national ARC linearly from its average end-year basic-access level. Averages are unweighted across countries; population-weighted ARC for Sub-Saharan Africa is higher (about 1.0 pp a year), so the gap in years would be smaller.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32 'stalled or declined' figure is 16 countries with no change plus 16 with declining national access, excluding countries already at full access.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adds 7 features (16 to 23 columns). Part 2 adds 12 (16 to 28 columns).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8229600" cy="777240"/>
          </a:xfrm>
          <a:prstGeom prst="rect">
            <a:avLst/>
          </a:prstGeom>
          <a:noFill/>
          <a:ln/>
        </p:spPr>
        <p:txBody>
          <a:bodyPr wrap="square" rtlCol="0"/>
          <a:lstStyle>
            <a:lvl1pPr marL="0" indent="0" algn="l">
              <a:buNone/>
              <a:defRPr lang="en-US" sz="2600" b="1" dirty="0">
                <a:solidFill>
                  <a:srgbClr val="0B2545"/>
                </a:solidFill>
                <a:latin typeface="Cambria" pitchFamily="34" charset="0"/>
                <a:ea typeface="Cambria" pitchFamily="34" charset="-122"/>
                <a:cs typeface="Cambria" pitchFamily="34" charset="-120"/>
              </a:defRPr>
            </a:lvl1pPr>
          </a:lstStyle>
          <a:p>
            <a:pPr marL="0" indent="0" algn="l">
              <a:buNone/>
            </a:pPr>
            <a:endParaRPr lang="en-US" sz="2600" dirty="0"/>
          </a:p>
        </p:txBody>
      </p:sp>
      <p:sp>
        <p:nvSpPr>
          <p:cNvPr id="3" name="Text 0"/>
          <p:cNvSpPr/>
          <p:nvPr/>
        </p:nvSpPr>
        <p:spPr>
          <a:xfrm>
            <a:off x="457200" y="4846320"/>
            <a:ext cx="5486400" cy="228600"/>
          </a:xfrm>
          <a:prstGeom prst="rect">
            <a:avLst/>
          </a:prstGeom>
          <a:noFill/>
          <a:ln/>
        </p:spPr>
        <p:txBody>
          <a:bodyPr wrap="square" lIns="0" tIns="0" rIns="0" bIns="0" rtlCol="0" anchor="ctr"/>
          <a:lstStyle/>
          <a:p>
            <a:pPr marL="0" indent="0">
              <a:buNone/>
            </a:pPr>
            <a:r>
              <a:rPr lang="en-US" sz="1000" dirty="0">
                <a:solidFill>
                  <a:srgbClr val="5B6B7B"/>
                </a:solidFill>
                <a:latin typeface="Calibri" pitchFamily="34" charset="0"/>
                <a:ea typeface="Calibri" pitchFamily="34" charset="-122"/>
                <a:cs typeface="Calibri" pitchFamily="34" charset="-120"/>
              </a:rPr>
              <a:t>Access to safe drinking water  |  Data analysis portfolio</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8229600" cy="777240"/>
          </a:xfrm>
          <a:prstGeom prst="rect">
            <a:avLst/>
          </a:prstGeom>
          <a:noFill/>
          <a:ln/>
        </p:spPr>
        <p:txBody>
          <a:bodyPr wrap="square" rtlCol="0"/>
          <a:lstStyle>
            <a:lvl1pPr marL="0" indent="0" algn="l">
              <a:buNone/>
              <a:defRPr lang="en-US" sz="28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B4"/>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2545"/>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25880"/>
            <a:ext cx="5760720" cy="1600200"/>
          </a:xfrm>
          <a:prstGeom prst="rect">
            <a:avLst/>
          </a:prstGeom>
          <a:noFill/>
          <a:ln/>
        </p:spPr>
        <p:txBody>
          <a:bodyPr wrap="square" rtlCol="0"/>
          <a:lstStyle>
            <a:lvl1pPr marL="0" indent="0" algn="l">
              <a:buNone/>
              <a:defRPr lang="en-US" sz="36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pple"/>
          <p:cNvSpPr/>
          <p:nvPr/>
        </p:nvSpPr>
        <p:spPr>
          <a:xfrm>
            <a:off x="4114800" y="-868680"/>
            <a:ext cx="6766560" cy="6766560"/>
          </a:xfrm>
          <a:prstGeom prst="ellipse">
            <a:avLst/>
          </a:prstGeom>
          <a:solidFill>
            <a:srgbClr val="1B7F9E">
              <a:alpha val="12000"/>
            </a:srgbClr>
          </a:solidFill>
          <a:ln w="12700">
            <a:solidFill>
              <a:srgbClr val="5FB0C9">
                <a:alpha val="45000"/>
              </a:srgbClr>
            </a:solidFill>
            <a:prstDash val="solid"/>
          </a:ln>
        </p:spPr>
      </p:sp>
      <p:sp>
        <p:nvSpPr>
          <p:cNvPr id="3" name="Ripple"/>
          <p:cNvSpPr/>
          <p:nvPr/>
        </p:nvSpPr>
        <p:spPr>
          <a:xfrm>
            <a:off x="4937760" y="-45720"/>
            <a:ext cx="5120640" cy="5120640"/>
          </a:xfrm>
          <a:prstGeom prst="ellipse">
            <a:avLst/>
          </a:prstGeom>
          <a:solidFill>
            <a:srgbClr val="1B7F9E">
              <a:alpha val="16000"/>
            </a:srgbClr>
          </a:solidFill>
          <a:ln w="12700">
            <a:solidFill>
              <a:srgbClr val="5FB0C9">
                <a:alpha val="45000"/>
              </a:srgbClr>
            </a:solidFill>
            <a:prstDash val="solid"/>
          </a:ln>
        </p:spPr>
      </p:sp>
      <p:sp>
        <p:nvSpPr>
          <p:cNvPr id="4" name="Ripple"/>
          <p:cNvSpPr/>
          <p:nvPr/>
        </p:nvSpPr>
        <p:spPr>
          <a:xfrm>
            <a:off x="5760720" y="777240"/>
            <a:ext cx="3474720" cy="3474720"/>
          </a:xfrm>
          <a:prstGeom prst="ellipse">
            <a:avLst/>
          </a:prstGeom>
          <a:solidFill>
            <a:srgbClr val="1B7F9E">
              <a:alpha val="22000"/>
            </a:srgbClr>
          </a:solidFill>
          <a:ln w="12700">
            <a:solidFill>
              <a:srgbClr val="5FB0C9">
                <a:alpha val="45000"/>
              </a:srgbClr>
            </a:solidFill>
            <a:prstDash val="solid"/>
          </a:ln>
        </p:spPr>
      </p:sp>
      <p:sp>
        <p:nvSpPr>
          <p:cNvPr id="5" name="Ripple"/>
          <p:cNvSpPr/>
          <p:nvPr/>
        </p:nvSpPr>
        <p:spPr>
          <a:xfrm>
            <a:off x="6583680" y="1600200"/>
            <a:ext cx="1828800" cy="1828800"/>
          </a:xfrm>
          <a:prstGeom prst="ellipse">
            <a:avLst/>
          </a:prstGeom>
          <a:solidFill>
            <a:srgbClr val="1B7F9E">
              <a:alpha val="30000"/>
            </a:srgbClr>
          </a:solidFill>
          <a:ln w="12700">
            <a:solidFill>
              <a:srgbClr val="5FB0C9">
                <a:alpha val="45000"/>
              </a:srgbClr>
            </a:solidFill>
            <a:prstDash val="solid"/>
          </a:ln>
        </p:spPr>
      </p:sp>
      <p:sp>
        <p:nvSpPr>
          <p:cNvPr id="6" name="Text 4"/>
          <p:cNvSpPr txBox="1"/>
          <p:nvPr/>
        </p:nvSpPr>
        <p:spPr>
          <a:xfrm>
            <a:off x="548640" y="731520"/>
            <a:ext cx="5852160" cy="457200"/>
          </a:xfrm>
          <a:prstGeom prst="rect">
            <a:avLst/>
          </a:prstGeom>
          <a:noFill/>
          <a:ln/>
        </p:spPr>
        <p:txBody>
          <a:bodyPr wrap="square" lIns="0" tIns="0" rIns="0" bIns="0" rtlCol="0" anchor="ctr"/>
          <a:lstStyle/>
          <a:p>
            <a:pPr marL="0" indent="0">
              <a:buNone/>
            </a:pPr>
            <a:r>
              <a:rPr lang="en-US" sz="1100" b="1" kern="0" spc="200" dirty="0">
                <a:solidFill>
                  <a:srgbClr val="5FB0C9"/>
                </a:solidFill>
                <a:latin typeface="Calibri" pitchFamily="34" charset="0"/>
                <a:ea typeface="Calibri" pitchFamily="34" charset="-122"/>
                <a:cs typeface="Calibri" pitchFamily="34" charset="-120"/>
              </a:rPr>
              <a:t>DATA ANALYSIS PORTFOLIO  |  UN SDG 6: CLEAN WATER AND SANITATION</a:t>
            </a:r>
            <a:endParaRPr lang="en-US" sz="1100" dirty="0"/>
          </a:p>
        </p:txBody>
      </p:sp>
      <p:sp>
        <p:nvSpPr>
          <p:cNvPr id="7" name="Text 0"/>
          <p:cNvSpPr>
            <a:spLocks noGrp="1"/>
          </p:cNvSpPr>
          <p:nvPr>
            <p:ph type="title" idx="100" hasCustomPrompt="1"/>
          </p:nvPr>
        </p:nvSpPr>
        <p:spPr>
          <a:xfrm>
            <a:off x="548640" y="1325880"/>
            <a:ext cx="5760720" cy="1600200"/>
          </a:xfrm>
          <a:prstGeom prst="rect">
            <a:avLst/>
          </a:prstGeom>
          <a:noFill/>
          <a:ln/>
        </p:spPr>
        <p:txBody>
          <a:bodyPr wrap="square" lIns="0" tIns="0" rIns="0" bIns="0" rtlCol="0" anchor="t"/>
          <a:lstStyle/>
          <a:p>
            <a:pPr marL="0" indent="0" algn="l">
              <a:buNone/>
            </a:pPr>
            <a:r>
              <a:rPr lang="en-US" sz="3600" b="1" dirty="0">
                <a:solidFill>
                  <a:srgbClr val="FFFFFF"/>
                </a:solidFill>
                <a:latin typeface="Cambria" pitchFamily="34" charset="0"/>
                <a:ea typeface="Cambria" pitchFamily="34" charset="-122"/>
                <a:cs typeface="Cambria" pitchFamily="34" charset="-120"/>
              </a:rPr>
              <a:t>Who still lacks safe drinking water, and is it improving?</a:t>
            </a:r>
            <a:endParaRPr lang="en-US" sz="3600" dirty="0"/>
          </a:p>
        </p:txBody>
      </p:sp>
      <p:sp>
        <p:nvSpPr>
          <p:cNvPr id="8" name="Text 6"/>
          <p:cNvSpPr txBox="1"/>
          <p:nvPr/>
        </p:nvSpPr>
        <p:spPr>
          <a:xfrm>
            <a:off x="548640" y="3063240"/>
            <a:ext cx="5394960" cy="731520"/>
          </a:xfrm>
          <a:prstGeom prst="rect">
            <a:avLst/>
          </a:prstGeom>
          <a:noFill/>
          <a:ln/>
        </p:spPr>
        <p:txBody>
          <a:bodyPr wrap="square" lIns="0" tIns="0" rIns="0" bIns="0" rtlCol="0" anchor="ctr"/>
          <a:lstStyle/>
          <a:p>
            <a:pPr marL="0" indent="0">
              <a:buNone/>
            </a:pPr>
            <a:r>
              <a:rPr lang="en-US" sz="1600" dirty="0">
                <a:solidFill>
                  <a:srgbClr val="D9E6EE"/>
                </a:solidFill>
                <a:latin typeface="Calibri" pitchFamily="34" charset="0"/>
                <a:ea typeface="Calibri" pitchFamily="34" charset="-122"/>
                <a:cs typeface="Calibri" pitchFamily="34" charset="-120"/>
              </a:rPr>
              <a:t>An end-to-end analysis of WHO/UNICEF JMP estimates: 213 countries in 2020, and 231 countries tracked from 2015 to 2020.</a:t>
            </a:r>
            <a:endParaRPr lang="en-US" sz="1600" dirty="0"/>
          </a:p>
        </p:txBody>
      </p:sp>
      <p:sp>
        <p:nvSpPr>
          <p:cNvPr id="9" name="Text 7"/>
          <p:cNvSpPr txBox="1"/>
          <p:nvPr/>
        </p:nvSpPr>
        <p:spPr>
          <a:xfrm>
            <a:off x="548640" y="4297680"/>
            <a:ext cx="5486400" cy="274320"/>
          </a:xfrm>
          <a:prstGeom prst="rect">
            <a:avLst/>
          </a:prstGeom>
          <a:noFill/>
          <a:ln/>
        </p:spPr>
        <p:txBody>
          <a:bodyPr wrap="square" lIns="0" tIns="0" rIns="0" bIns="0" rtlCol="0" anchor="ctr"/>
          <a:lstStyle/>
          <a:p>
            <a:pPr marL="0" indent="0">
              <a:buNone/>
            </a:pPr>
            <a:r>
              <a:rPr lang="en-US" sz="1300" dirty="0">
                <a:solidFill>
                  <a:srgbClr val="9AA7B4"/>
                </a:solidFill>
                <a:latin typeface="Calibri" pitchFamily="34" charset="0"/>
                <a:ea typeface="Calibri" pitchFamily="34" charset="-122"/>
                <a:cs typeface="Calibri" pitchFamily="34" charset="-120"/>
              </a:rPr>
              <a:t>Joshua  |  Google Sheets + Python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PROJECT OVERVIEW</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A two-part study of access to drinking water</a:t>
            </a:r>
            <a:endParaRPr lang="en-US" sz="2600" dirty="0"/>
          </a:p>
        </p:txBody>
      </p:sp>
      <p:sp>
        <p:nvSpPr>
          <p:cNvPr id="5" name="Text 2"/>
          <p:cNvSpPr txBox="1"/>
          <p:nvPr/>
        </p:nvSpPr>
        <p:spPr>
          <a:xfrm>
            <a:off x="457200" y="1371600"/>
            <a:ext cx="3931920" cy="3200400"/>
          </a:xfrm>
          <a:prstGeom prst="rect">
            <a:avLst/>
          </a:prstGeom>
          <a:noFill/>
          <a:ln/>
        </p:spPr>
        <p:txBody>
          <a:bodyPr wrap="square" lIns="0" tIns="0" rIns="0" bIns="0" rtlCol="0" anchor="t"/>
          <a:lstStyle/>
          <a:p>
            <a:pPr marL="0" indent="0">
              <a:spcAft>
                <a:spcPts val="400"/>
              </a:spcAft>
              <a:buNone/>
            </a:pPr>
            <a:r>
              <a:rPr lang="en-US" sz="1600" b="1" dirty="0">
                <a:solidFill>
                  <a:srgbClr val="0B2545"/>
                </a:solidFill>
                <a:latin typeface="Calibri" pitchFamily="34" charset="0"/>
                <a:ea typeface="Calibri" pitchFamily="34" charset="-122"/>
                <a:cs typeface="Calibri" pitchFamily="34" charset="-120"/>
              </a:rPr>
              <a:t>Why it matters</a:t>
            </a:r>
            <a:endParaRPr lang="en-US" sz="1600" dirty="0"/>
          </a:p>
          <a:p>
            <a:pPr marL="0" indent="0">
              <a:spcAft>
                <a:spcPts val="1200"/>
              </a:spcAft>
              <a:buNone/>
            </a:pPr>
            <a:r>
              <a:rPr lang="en-US" sz="1400" dirty="0">
                <a:solidFill>
                  <a:srgbClr val="0B2545"/>
                </a:solidFill>
                <a:latin typeface="Calibri" pitchFamily="34" charset="0"/>
                <a:ea typeface="Calibri" pitchFamily="34" charset="-122"/>
                <a:cs typeface="Calibri" pitchFamily="34" charset="-120"/>
              </a:rPr>
              <a:t>UN SDG 6 calls for safe, affordable drinking water for everyone. The WHO/UNICEF Joint Monitoring Programme ranks service on a ladder: at least basic, limited, unimproved, surface water.</a:t>
            </a:r>
            <a:endParaRPr lang="en-US" sz="1600" dirty="0"/>
          </a:p>
          <a:p>
            <a:pPr marL="0" indent="0">
              <a:spcAft>
                <a:spcPts val="400"/>
              </a:spcAft>
              <a:buNone/>
            </a:pPr>
            <a:r>
              <a:rPr lang="en-US" sz="1600" b="1" dirty="0">
                <a:solidFill>
                  <a:srgbClr val="0B2545"/>
                </a:solidFill>
                <a:latin typeface="Calibri" pitchFamily="34" charset="0"/>
                <a:ea typeface="Calibri" pitchFamily="34" charset="-122"/>
                <a:cs typeface="Calibri" pitchFamily="34" charset="-120"/>
              </a:rPr>
              <a:t>Questions I set out to answer</a:t>
            </a:r>
            <a:endParaRPr lang="en-US" sz="1600" dirty="0"/>
          </a:p>
          <a:p>
            <a:pPr marL="177800" indent="-177800">
              <a:spcAft>
                <a:spcPts val="400"/>
              </a:spcAft>
              <a:buSzPct val="100000"/>
              <a:buChar char="•"/>
            </a:pPr>
            <a:r>
              <a:rPr lang="en-US" sz="1600" dirty="0">
                <a:solidFill>
                  <a:srgbClr val="000000"/>
                </a:solidFill>
                <a:latin typeface="Calibri" pitchFamily="34" charset="0"/>
                <a:ea typeface="Calibri" pitchFamily="34" charset="-122"/>
                <a:cs typeface="Calibri" pitchFamily="34" charset="-120"/>
              </a:rPr>
              <a:t>Who lacks access: by area, population size, income?</a:t>
            </a:r>
            <a:endParaRPr lang="en-US" sz="1600" dirty="0"/>
          </a:p>
          <a:p>
            <a:pPr marL="177800" indent="-177800">
              <a:spcAft>
                <a:spcPts val="400"/>
              </a:spcAft>
              <a:buSzPct val="100000"/>
              <a:buChar char="•"/>
            </a:pPr>
            <a:r>
              <a:rPr lang="en-US" sz="1600" dirty="0">
                <a:solidFill>
                  <a:srgbClr val="000000"/>
                </a:solidFill>
                <a:latin typeface="Calibri" pitchFamily="34" charset="0"/>
                <a:ea typeface="Calibri" pitchFamily="34" charset="-122"/>
                <a:cs typeface="Calibri" pitchFamily="34" charset="-120"/>
              </a:rPr>
              <a:t>Is access improving, and how fast?</a:t>
            </a:r>
            <a:endParaRPr lang="en-US" sz="1600" dirty="0"/>
          </a:p>
          <a:p>
            <a:pPr marL="177800" indent="-177800">
              <a:spcAft>
                <a:spcPts val="400"/>
              </a:spcAft>
              <a:buSzPct val="100000"/>
              <a:buChar char="•"/>
            </a:pPr>
            <a:r>
              <a:rPr lang="en-US" sz="1600" dirty="0">
                <a:solidFill>
                  <a:srgbClr val="000000"/>
                </a:solidFill>
                <a:latin typeface="Calibri" pitchFamily="34" charset="0"/>
                <a:ea typeface="Calibri" pitchFamily="34" charset="-122"/>
                <a:cs typeface="Calibri" pitchFamily="34" charset="-120"/>
              </a:rPr>
              <a:t>Which regions are furthest behind?</a:t>
            </a:r>
            <a:endParaRPr lang="en-US" sz="1600" dirty="0"/>
          </a:p>
        </p:txBody>
      </p:sp>
      <p:sp>
        <p:nvSpPr>
          <p:cNvPr id="6" name="Stat card"/>
          <p:cNvSpPr/>
          <p:nvPr/>
        </p:nvSpPr>
        <p:spPr>
          <a:xfrm>
            <a:off x="4754880" y="1371600"/>
            <a:ext cx="1874520" cy="1508760"/>
          </a:xfrm>
          <a:prstGeom prst="roundRect">
            <a:avLst>
              <a:gd name="adj" fmla="val 4848"/>
            </a:avLst>
          </a:prstGeom>
          <a:solidFill>
            <a:srgbClr val="F1F6F9"/>
          </a:solidFill>
          <a:ln w="12700">
            <a:solidFill>
              <a:srgbClr val="F1F6F9"/>
            </a:solidFill>
            <a:prstDash val="solid"/>
          </a:ln>
        </p:spPr>
      </p:sp>
      <p:sp>
        <p:nvSpPr>
          <p:cNvPr id="7" name="Text 4"/>
          <p:cNvSpPr txBox="1"/>
          <p:nvPr/>
        </p:nvSpPr>
        <p:spPr>
          <a:xfrm>
            <a:off x="4892040" y="1444752"/>
            <a:ext cx="1600200" cy="754380"/>
          </a:xfrm>
          <a:prstGeom prst="rect">
            <a:avLst/>
          </a:prstGeom>
          <a:noFill/>
          <a:ln/>
        </p:spPr>
        <p:txBody>
          <a:bodyPr wrap="square" lIns="0" tIns="0" rIns="0" bIns="0" rtlCol="0" anchor="ctr"/>
          <a:lstStyle/>
          <a:p>
            <a:pPr marL="0" indent="0">
              <a:buNone/>
            </a:pPr>
            <a:r>
              <a:rPr lang="en-US" sz="3400" b="1" dirty="0">
                <a:solidFill>
                  <a:srgbClr val="1B7F9E"/>
                </a:solidFill>
                <a:latin typeface="Cambria" pitchFamily="34" charset="0"/>
                <a:ea typeface="Cambria" pitchFamily="34" charset="-122"/>
                <a:cs typeface="Cambria" pitchFamily="34" charset="-120"/>
              </a:rPr>
              <a:t>213</a:t>
            </a:r>
            <a:endParaRPr lang="en-US" sz="3400" dirty="0"/>
          </a:p>
        </p:txBody>
      </p:sp>
      <p:sp>
        <p:nvSpPr>
          <p:cNvPr id="8" name="Text 5"/>
          <p:cNvSpPr txBox="1"/>
          <p:nvPr/>
        </p:nvSpPr>
        <p:spPr>
          <a:xfrm>
            <a:off x="4892040" y="2201418"/>
            <a:ext cx="1600200" cy="603504"/>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countries in the 2020 snapshot (Part 1)</a:t>
            </a:r>
            <a:endParaRPr lang="en-US" sz="1200" dirty="0"/>
          </a:p>
        </p:txBody>
      </p:sp>
      <p:sp>
        <p:nvSpPr>
          <p:cNvPr id="9" name="Stat card"/>
          <p:cNvSpPr/>
          <p:nvPr/>
        </p:nvSpPr>
        <p:spPr>
          <a:xfrm>
            <a:off x="6766560" y="1371600"/>
            <a:ext cx="1874520" cy="1508760"/>
          </a:xfrm>
          <a:prstGeom prst="roundRect">
            <a:avLst>
              <a:gd name="adj" fmla="val 4848"/>
            </a:avLst>
          </a:prstGeom>
          <a:solidFill>
            <a:srgbClr val="F1F6F9"/>
          </a:solidFill>
          <a:ln w="12700">
            <a:solidFill>
              <a:srgbClr val="F1F6F9"/>
            </a:solidFill>
            <a:prstDash val="solid"/>
          </a:ln>
        </p:spPr>
      </p:sp>
      <p:sp>
        <p:nvSpPr>
          <p:cNvPr id="10" name="Text 7"/>
          <p:cNvSpPr txBox="1"/>
          <p:nvPr/>
        </p:nvSpPr>
        <p:spPr>
          <a:xfrm>
            <a:off x="6903720" y="1444752"/>
            <a:ext cx="1600200" cy="754380"/>
          </a:xfrm>
          <a:prstGeom prst="rect">
            <a:avLst/>
          </a:prstGeom>
          <a:noFill/>
          <a:ln/>
        </p:spPr>
        <p:txBody>
          <a:bodyPr wrap="square" lIns="0" tIns="0" rIns="0" bIns="0" rtlCol="0" anchor="ctr"/>
          <a:lstStyle/>
          <a:p>
            <a:pPr marL="0" indent="0">
              <a:buNone/>
            </a:pPr>
            <a:r>
              <a:rPr lang="en-US" sz="3400" b="1" dirty="0">
                <a:solidFill>
                  <a:srgbClr val="1B7F9E"/>
                </a:solidFill>
                <a:latin typeface="Cambria" pitchFamily="34" charset="0"/>
                <a:ea typeface="Cambria" pitchFamily="34" charset="-122"/>
                <a:cs typeface="Cambria" pitchFamily="34" charset="-120"/>
              </a:rPr>
              <a:t>231</a:t>
            </a:r>
            <a:endParaRPr lang="en-US" sz="3400" dirty="0"/>
          </a:p>
        </p:txBody>
      </p:sp>
      <p:sp>
        <p:nvSpPr>
          <p:cNvPr id="11" name="Text 8"/>
          <p:cNvSpPr txBox="1"/>
          <p:nvPr/>
        </p:nvSpPr>
        <p:spPr>
          <a:xfrm>
            <a:off x="6903720" y="2201418"/>
            <a:ext cx="1600200" cy="603504"/>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countries tracked 2015 to 2020 (Part 2)</a:t>
            </a:r>
            <a:endParaRPr lang="en-US" sz="1200" dirty="0"/>
          </a:p>
        </p:txBody>
      </p:sp>
      <p:sp>
        <p:nvSpPr>
          <p:cNvPr id="12" name="Stat card"/>
          <p:cNvSpPr/>
          <p:nvPr/>
        </p:nvSpPr>
        <p:spPr>
          <a:xfrm>
            <a:off x="4754880" y="3017520"/>
            <a:ext cx="1874520" cy="1508760"/>
          </a:xfrm>
          <a:prstGeom prst="roundRect">
            <a:avLst>
              <a:gd name="adj" fmla="val 4848"/>
            </a:avLst>
          </a:prstGeom>
          <a:solidFill>
            <a:srgbClr val="F1F6F9"/>
          </a:solidFill>
          <a:ln w="12700">
            <a:solidFill>
              <a:srgbClr val="F1F6F9"/>
            </a:solidFill>
            <a:prstDash val="solid"/>
          </a:ln>
        </p:spPr>
      </p:sp>
      <p:sp>
        <p:nvSpPr>
          <p:cNvPr id="13" name="Text 10"/>
          <p:cNvSpPr txBox="1"/>
          <p:nvPr/>
        </p:nvSpPr>
        <p:spPr>
          <a:xfrm>
            <a:off x="4892040" y="3090672"/>
            <a:ext cx="1600200" cy="754380"/>
          </a:xfrm>
          <a:prstGeom prst="rect">
            <a:avLst/>
          </a:prstGeom>
          <a:noFill/>
          <a:ln/>
        </p:spPr>
        <p:txBody>
          <a:bodyPr wrap="square" lIns="0" tIns="0" rIns="0" bIns="0" rtlCol="0" anchor="ctr"/>
          <a:lstStyle/>
          <a:p>
            <a:pPr marL="0" indent="0">
              <a:buNone/>
            </a:pPr>
            <a:r>
              <a:rPr lang="en-US" sz="3400" b="1" dirty="0">
                <a:solidFill>
                  <a:srgbClr val="1B7F9E"/>
                </a:solidFill>
                <a:latin typeface="Cambria" pitchFamily="34" charset="0"/>
                <a:ea typeface="Cambria" pitchFamily="34" charset="-122"/>
                <a:cs typeface="Cambria" pitchFamily="34" charset="-120"/>
              </a:rPr>
              <a:t>12</a:t>
            </a:r>
            <a:endParaRPr lang="en-US" sz="3400" dirty="0"/>
          </a:p>
        </p:txBody>
      </p:sp>
      <p:sp>
        <p:nvSpPr>
          <p:cNvPr id="14" name="Text 11"/>
          <p:cNvSpPr txBox="1"/>
          <p:nvPr/>
        </p:nvSpPr>
        <p:spPr>
          <a:xfrm>
            <a:off x="4892040" y="3847338"/>
            <a:ext cx="1600200" cy="603504"/>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access measures: 4 service levels x national, rural, urban</a:t>
            </a:r>
            <a:endParaRPr lang="en-US" sz="1200" dirty="0"/>
          </a:p>
        </p:txBody>
      </p:sp>
      <p:sp>
        <p:nvSpPr>
          <p:cNvPr id="15" name="Stat card"/>
          <p:cNvSpPr/>
          <p:nvPr/>
        </p:nvSpPr>
        <p:spPr>
          <a:xfrm>
            <a:off x="6766560" y="3017520"/>
            <a:ext cx="1874520" cy="1508760"/>
          </a:xfrm>
          <a:prstGeom prst="roundRect">
            <a:avLst>
              <a:gd name="adj" fmla="val 4848"/>
            </a:avLst>
          </a:prstGeom>
          <a:solidFill>
            <a:srgbClr val="F1F6F9"/>
          </a:solidFill>
          <a:ln w="12700">
            <a:solidFill>
              <a:srgbClr val="F1F6F9"/>
            </a:solidFill>
            <a:prstDash val="solid"/>
          </a:ln>
        </p:spPr>
      </p:sp>
      <p:sp>
        <p:nvSpPr>
          <p:cNvPr id="16" name="Text 13"/>
          <p:cNvSpPr txBox="1"/>
          <p:nvPr/>
        </p:nvSpPr>
        <p:spPr>
          <a:xfrm>
            <a:off x="6903720" y="3090672"/>
            <a:ext cx="1600200" cy="754380"/>
          </a:xfrm>
          <a:prstGeom prst="rect">
            <a:avLst/>
          </a:prstGeom>
          <a:noFill/>
          <a:ln/>
        </p:spPr>
        <p:txBody>
          <a:bodyPr wrap="square" lIns="0" tIns="0" rIns="0" bIns="0" rtlCol="0" anchor="ctr"/>
          <a:lstStyle/>
          <a:p>
            <a:pPr marL="0" indent="0">
              <a:buNone/>
            </a:pPr>
            <a:r>
              <a:rPr lang="en-US" sz="3400" b="1" dirty="0">
                <a:solidFill>
                  <a:srgbClr val="1B7F9E"/>
                </a:solidFill>
                <a:latin typeface="Cambria" pitchFamily="34" charset="0"/>
                <a:ea typeface="Cambria" pitchFamily="34" charset="-122"/>
                <a:cs typeface="Cambria" pitchFamily="34" charset="-120"/>
              </a:rPr>
              <a:t>+19</a:t>
            </a:r>
            <a:endParaRPr lang="en-US" sz="3400" dirty="0"/>
          </a:p>
        </p:txBody>
      </p:sp>
      <p:sp>
        <p:nvSpPr>
          <p:cNvPr id="17" name="Text 14"/>
          <p:cNvSpPr txBox="1"/>
          <p:nvPr/>
        </p:nvSpPr>
        <p:spPr>
          <a:xfrm>
            <a:off x="6903720" y="3847338"/>
            <a:ext cx="1600200" cy="603504"/>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engineered features on top of the 16 original columns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EXECUTIVE SUMMARY</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Four findings: a rural gap, an income gap, uneven progress, one region behind</a:t>
            </a:r>
            <a:endParaRPr lang="en-US" sz="2600" dirty="0"/>
          </a:p>
        </p:txBody>
      </p:sp>
      <p:sp>
        <p:nvSpPr>
          <p:cNvPr id="5" name="Stat card"/>
          <p:cNvSpPr/>
          <p:nvPr/>
        </p:nvSpPr>
        <p:spPr>
          <a:xfrm>
            <a:off x="457200" y="1371600"/>
            <a:ext cx="4023360" cy="1325880"/>
          </a:xfrm>
          <a:prstGeom prst="roundRect">
            <a:avLst>
              <a:gd name="adj" fmla="val 5517"/>
            </a:avLst>
          </a:prstGeom>
          <a:solidFill>
            <a:srgbClr val="F1F6F9"/>
          </a:solidFill>
          <a:ln w="12700">
            <a:solidFill>
              <a:srgbClr val="F1F6F9"/>
            </a:solidFill>
            <a:prstDash val="solid"/>
          </a:ln>
        </p:spPr>
      </p:sp>
      <p:sp>
        <p:nvSpPr>
          <p:cNvPr id="6" name="Text 3"/>
          <p:cNvSpPr txBox="1"/>
          <p:nvPr/>
        </p:nvSpPr>
        <p:spPr>
          <a:xfrm>
            <a:off x="594360" y="1444752"/>
            <a:ext cx="3749040" cy="66294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~768M</a:t>
            </a:r>
            <a:endParaRPr lang="en-US" sz="3000" dirty="0"/>
          </a:p>
        </p:txBody>
      </p:sp>
      <p:sp>
        <p:nvSpPr>
          <p:cNvPr id="7" name="Text 4"/>
          <p:cNvSpPr txBox="1"/>
          <p:nvPr/>
        </p:nvSpPr>
        <p:spPr>
          <a:xfrm>
            <a:off x="594360" y="2100834"/>
            <a:ext cx="3749040" cy="530352"/>
          </a:xfrm>
          <a:prstGeom prst="rect">
            <a:avLst/>
          </a:prstGeom>
          <a:noFill/>
          <a:ln/>
        </p:spPr>
        <p:txBody>
          <a:bodyPr wrap="square" lIns="0" tIns="0" rIns="0" bIns="0" rtlCol="0" anchor="t"/>
          <a:lstStyle/>
          <a:p>
            <a:pPr marL="0" indent="0">
              <a:buNone/>
            </a:pPr>
            <a:r>
              <a:rPr lang="en-US" sz="1300" dirty="0">
                <a:solidFill>
                  <a:srgbClr val="0B2545"/>
                </a:solidFill>
                <a:latin typeface="Calibri" pitchFamily="34" charset="0"/>
                <a:ea typeface="Calibri" pitchFamily="34" charset="-122"/>
                <a:cs typeface="Calibri" pitchFamily="34" charset="-120"/>
              </a:rPr>
              <a:t>people in the 2020 data lack at least basic drinking water (about 1 in 10)</a:t>
            </a:r>
            <a:endParaRPr lang="en-US" sz="1300" dirty="0"/>
          </a:p>
        </p:txBody>
      </p:sp>
      <p:sp>
        <p:nvSpPr>
          <p:cNvPr id="8" name="Stat card"/>
          <p:cNvSpPr/>
          <p:nvPr/>
        </p:nvSpPr>
        <p:spPr>
          <a:xfrm>
            <a:off x="4663440" y="1371600"/>
            <a:ext cx="4023360" cy="1325880"/>
          </a:xfrm>
          <a:prstGeom prst="roundRect">
            <a:avLst>
              <a:gd name="adj" fmla="val 5517"/>
            </a:avLst>
          </a:prstGeom>
          <a:solidFill>
            <a:srgbClr val="F1F6F9"/>
          </a:solidFill>
          <a:ln w="12700">
            <a:solidFill>
              <a:srgbClr val="F1F6F9"/>
            </a:solidFill>
            <a:prstDash val="solid"/>
          </a:ln>
        </p:spPr>
      </p:sp>
      <p:sp>
        <p:nvSpPr>
          <p:cNvPr id="9" name="Text 6"/>
          <p:cNvSpPr txBox="1"/>
          <p:nvPr/>
        </p:nvSpPr>
        <p:spPr>
          <a:xfrm>
            <a:off x="4800600" y="1444752"/>
            <a:ext cx="3749040" cy="662940"/>
          </a:xfrm>
          <a:prstGeom prst="rect">
            <a:avLst/>
          </a:prstGeom>
          <a:noFill/>
          <a:ln/>
        </p:spPr>
        <p:txBody>
          <a:bodyPr wrap="square" lIns="0" tIns="0" rIns="0" bIns="0" rtlCol="0" anchor="ctr"/>
          <a:lstStyle/>
          <a:p>
            <a:pPr marL="0" indent="0">
              <a:buNone/>
            </a:pPr>
            <a:r>
              <a:rPr lang="en-US" sz="3000" b="1" dirty="0">
                <a:solidFill>
                  <a:srgbClr val="E07A3F"/>
                </a:solidFill>
                <a:latin typeface="Cambria" pitchFamily="34" charset="0"/>
                <a:ea typeface="Cambria" pitchFamily="34" charset="-122"/>
                <a:cs typeface="Cambria" pitchFamily="34" charset="-120"/>
              </a:rPr>
              <a:t>13.4 pts</a:t>
            </a:r>
            <a:endParaRPr lang="en-US" sz="3000" dirty="0"/>
          </a:p>
        </p:txBody>
      </p:sp>
      <p:sp>
        <p:nvSpPr>
          <p:cNvPr id="10" name="Text 7"/>
          <p:cNvSpPr txBox="1"/>
          <p:nvPr/>
        </p:nvSpPr>
        <p:spPr>
          <a:xfrm>
            <a:off x="4800600" y="2100834"/>
            <a:ext cx="3749040" cy="530352"/>
          </a:xfrm>
          <a:prstGeom prst="rect">
            <a:avLst/>
          </a:prstGeom>
          <a:noFill/>
          <a:ln/>
        </p:spPr>
        <p:txBody>
          <a:bodyPr wrap="square" lIns="0" tIns="0" rIns="0" bIns="0" rtlCol="0" anchor="t"/>
          <a:lstStyle/>
          <a:p>
            <a:pPr marL="0" indent="0">
              <a:buNone/>
            </a:pPr>
            <a:r>
              <a:rPr lang="en-US" sz="1300" dirty="0">
                <a:solidFill>
                  <a:srgbClr val="0B2545"/>
                </a:solidFill>
                <a:latin typeface="Calibri" pitchFamily="34" charset="0"/>
                <a:ea typeface="Calibri" pitchFamily="34" charset="-122"/>
                <a:cs typeface="Calibri" pitchFamily="34" charset="-120"/>
              </a:rPr>
              <a:t>rural-urban gap in basic access: 81.3% rural vs 94.7% urban (country means)</a:t>
            </a:r>
            <a:endParaRPr lang="en-US" sz="1300" dirty="0"/>
          </a:p>
        </p:txBody>
      </p:sp>
      <p:sp>
        <p:nvSpPr>
          <p:cNvPr id="11" name="Stat card"/>
          <p:cNvSpPr/>
          <p:nvPr/>
        </p:nvSpPr>
        <p:spPr>
          <a:xfrm>
            <a:off x="457200" y="2834640"/>
            <a:ext cx="4023360" cy="1325880"/>
          </a:xfrm>
          <a:prstGeom prst="roundRect">
            <a:avLst>
              <a:gd name="adj" fmla="val 5517"/>
            </a:avLst>
          </a:prstGeom>
          <a:solidFill>
            <a:srgbClr val="F1F6F9"/>
          </a:solidFill>
          <a:ln w="12700">
            <a:solidFill>
              <a:srgbClr val="F1F6F9"/>
            </a:solidFill>
            <a:prstDash val="solid"/>
          </a:ln>
        </p:spPr>
      </p:sp>
      <p:sp>
        <p:nvSpPr>
          <p:cNvPr id="12" name="Text 9"/>
          <p:cNvSpPr txBox="1"/>
          <p:nvPr/>
        </p:nvSpPr>
        <p:spPr>
          <a:xfrm>
            <a:off x="594360" y="2907792"/>
            <a:ext cx="3749040" cy="662940"/>
          </a:xfrm>
          <a:prstGeom prst="rect">
            <a:avLst/>
          </a:prstGeom>
          <a:noFill/>
          <a:ln/>
        </p:spPr>
        <p:txBody>
          <a:bodyPr wrap="square" lIns="0" tIns="0" rIns="0" bIns="0" rtlCol="0" anchor="ctr"/>
          <a:lstStyle/>
          <a:p>
            <a:pPr marL="0" indent="0">
              <a:buNone/>
            </a:pPr>
            <a:r>
              <a:rPr lang="en-US" sz="3000" b="1" dirty="0">
                <a:solidFill>
                  <a:srgbClr val="B83227"/>
                </a:solidFill>
                <a:latin typeface="Cambria" pitchFamily="34" charset="0"/>
                <a:ea typeface="Cambria" pitchFamily="34" charset="-122"/>
                <a:cs typeface="Cambria" pitchFamily="34" charset="-120"/>
              </a:rPr>
              <a:t>63% vs 99.6%</a:t>
            </a:r>
            <a:endParaRPr lang="en-US" sz="3000" dirty="0"/>
          </a:p>
        </p:txBody>
      </p:sp>
      <p:sp>
        <p:nvSpPr>
          <p:cNvPr id="13" name="Text 10"/>
          <p:cNvSpPr txBox="1"/>
          <p:nvPr/>
        </p:nvSpPr>
        <p:spPr>
          <a:xfrm>
            <a:off x="594360" y="3563874"/>
            <a:ext cx="3749040" cy="530352"/>
          </a:xfrm>
          <a:prstGeom prst="rect">
            <a:avLst/>
          </a:prstGeom>
          <a:noFill/>
          <a:ln/>
        </p:spPr>
        <p:txBody>
          <a:bodyPr wrap="square" lIns="0" tIns="0" rIns="0" bIns="0" rtlCol="0" anchor="t"/>
          <a:lstStyle/>
          <a:p>
            <a:pPr marL="0" indent="0">
              <a:buNone/>
            </a:pPr>
            <a:r>
              <a:rPr lang="en-US" sz="1300" dirty="0">
                <a:solidFill>
                  <a:srgbClr val="0B2545"/>
                </a:solidFill>
                <a:latin typeface="Calibri" pitchFamily="34" charset="0"/>
                <a:ea typeface="Calibri" pitchFamily="34" charset="-122"/>
                <a:cs typeface="Calibri" pitchFamily="34" charset="-120"/>
              </a:rPr>
              <a:t>basic access in low-income vs high-income countries: income is the sharpest divider</a:t>
            </a:r>
            <a:endParaRPr lang="en-US" sz="1300" dirty="0"/>
          </a:p>
        </p:txBody>
      </p:sp>
      <p:sp>
        <p:nvSpPr>
          <p:cNvPr id="14" name="Stat card"/>
          <p:cNvSpPr/>
          <p:nvPr/>
        </p:nvSpPr>
        <p:spPr>
          <a:xfrm>
            <a:off x="4663440" y="2834640"/>
            <a:ext cx="4023360" cy="1325880"/>
          </a:xfrm>
          <a:prstGeom prst="roundRect">
            <a:avLst>
              <a:gd name="adj" fmla="val 5517"/>
            </a:avLst>
          </a:prstGeom>
          <a:solidFill>
            <a:srgbClr val="F1F6F9"/>
          </a:solidFill>
          <a:ln w="12700">
            <a:solidFill>
              <a:srgbClr val="F1F6F9"/>
            </a:solidFill>
            <a:prstDash val="solid"/>
          </a:ln>
        </p:spPr>
      </p:sp>
      <p:sp>
        <p:nvSpPr>
          <p:cNvPr id="15" name="Text 12"/>
          <p:cNvSpPr txBox="1"/>
          <p:nvPr/>
        </p:nvSpPr>
        <p:spPr>
          <a:xfrm>
            <a:off x="4800600" y="2907792"/>
            <a:ext cx="3749040" cy="662940"/>
          </a:xfrm>
          <a:prstGeom prst="rect">
            <a:avLst/>
          </a:prstGeom>
          <a:noFill/>
          <a:ln/>
        </p:spPr>
        <p:txBody>
          <a:bodyPr wrap="square" lIns="0" tIns="0" rIns="0" bIns="0" rtlCol="0" anchor="ctr"/>
          <a:lstStyle/>
          <a:p>
            <a:pPr marL="0" indent="0">
              <a:buNone/>
            </a:pPr>
            <a:r>
              <a:rPr lang="en-US" sz="3000" b="1" dirty="0">
                <a:solidFill>
                  <a:srgbClr val="1B7F9E"/>
                </a:solidFill>
                <a:latin typeface="Cambria" pitchFamily="34" charset="0"/>
                <a:ea typeface="Cambria" pitchFamily="34" charset="-122"/>
                <a:cs typeface="Cambria" pitchFamily="34" charset="-120"/>
              </a:rPr>
              <a:t>135 of 231</a:t>
            </a:r>
            <a:endParaRPr lang="en-US" sz="3000" dirty="0"/>
          </a:p>
        </p:txBody>
      </p:sp>
      <p:sp>
        <p:nvSpPr>
          <p:cNvPr id="16" name="Text 13"/>
          <p:cNvSpPr txBox="1"/>
          <p:nvPr/>
        </p:nvSpPr>
        <p:spPr>
          <a:xfrm>
            <a:off x="4800600" y="3563874"/>
            <a:ext cx="3749040" cy="530352"/>
          </a:xfrm>
          <a:prstGeom prst="rect">
            <a:avLst/>
          </a:prstGeom>
          <a:noFill/>
          <a:ln/>
        </p:spPr>
        <p:txBody>
          <a:bodyPr wrap="square" lIns="0" tIns="0" rIns="0" bIns="0" rtlCol="0" anchor="t"/>
          <a:lstStyle/>
          <a:p>
            <a:pPr marL="0" indent="0">
              <a:buNone/>
            </a:pPr>
            <a:r>
              <a:rPr lang="en-US" sz="1300" dirty="0">
                <a:solidFill>
                  <a:srgbClr val="0B2545"/>
                </a:solidFill>
                <a:latin typeface="Calibri" pitchFamily="34" charset="0"/>
                <a:ea typeface="Calibri" pitchFamily="34" charset="-122"/>
                <a:cs typeface="Calibri" pitchFamily="34" charset="-120"/>
              </a:rPr>
              <a:t>countries improved national access 2015-2020; 62 were already at full access, 16 stalled, 16 declined</a:t>
            </a:r>
            <a:endParaRPr lang="en-US" sz="1300" dirty="0"/>
          </a:p>
        </p:txBody>
      </p:sp>
      <p:sp>
        <p:nvSpPr>
          <p:cNvPr id="17" name="Text 14"/>
          <p:cNvSpPr txBox="1"/>
          <p:nvPr/>
        </p:nvSpPr>
        <p:spPr>
          <a:xfrm>
            <a:off x="457200" y="4343400"/>
            <a:ext cx="8229600" cy="457200"/>
          </a:xfrm>
          <a:prstGeom prst="rect">
            <a:avLst/>
          </a:prstGeom>
          <a:noFill/>
          <a:ln/>
        </p:spPr>
        <p:txBody>
          <a:bodyPr wrap="square" lIns="0" tIns="0" rIns="0" bIns="0" rtlCol="0" anchor="ctr"/>
          <a:lstStyle/>
          <a:p>
            <a:pPr marL="0" indent="0">
              <a:buNone/>
            </a:pPr>
            <a:r>
              <a:rPr lang="en-US" sz="1200" i="1" dirty="0">
                <a:solidFill>
                  <a:srgbClr val="5B6B7B"/>
                </a:solidFill>
                <a:latin typeface="Calibri" pitchFamily="34" charset="0"/>
                <a:ea typeface="Calibri" pitchFamily="34" charset="-122"/>
                <a:cs typeface="Calibri" pitchFamily="34" charset="-120"/>
              </a:rPr>
              <a:t>Sub-Saharan Africa has the fastest national gains (0.56 pp a year) yet the furthest to go: 37 of the 44 countries below 80% basic access are there.</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APPROACH</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From messy imports to measured insight in four stages</a:t>
            </a:r>
            <a:endParaRPr lang="en-US" sz="2600" dirty="0"/>
          </a:p>
        </p:txBody>
      </p:sp>
      <p:sp>
        <p:nvSpPr>
          <p:cNvPr id="5" name="Step marker"/>
          <p:cNvSpPr/>
          <p:nvPr/>
        </p:nvSpPr>
        <p:spPr>
          <a:xfrm>
            <a:off x="502920" y="1417320"/>
            <a:ext cx="502920" cy="502920"/>
          </a:xfrm>
          <a:prstGeom prst="ellipse">
            <a:avLst/>
          </a:prstGeom>
          <a:solidFill>
            <a:srgbClr val="0B2545"/>
          </a:solidFill>
          <a:ln w="12700">
            <a:solidFill>
              <a:srgbClr val="FFFFFF"/>
            </a:solidFill>
            <a:prstDash val="solid"/>
          </a:ln>
        </p:spPr>
      </p:sp>
      <p:sp>
        <p:nvSpPr>
          <p:cNvPr id="6" name="Text 3"/>
          <p:cNvSpPr txBox="1"/>
          <p:nvPr/>
        </p:nvSpPr>
        <p:spPr>
          <a:xfrm>
            <a:off x="502920" y="1417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457200" y="2011680"/>
            <a:ext cx="1920240" cy="320040"/>
          </a:xfrm>
          <a:prstGeom prst="rect">
            <a:avLst/>
          </a:prstGeom>
          <a:noFill/>
          <a:ln/>
        </p:spPr>
        <p:txBody>
          <a:bodyPr wrap="square" lIns="0" tIns="0" rIns="0" bIns="0"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Import and clean</a:t>
            </a:r>
            <a:endParaRPr lang="en-US" sz="1500" dirty="0"/>
          </a:p>
        </p:txBody>
      </p:sp>
      <p:sp>
        <p:nvSpPr>
          <p:cNvPr id="8" name="Text 5"/>
          <p:cNvSpPr txBox="1"/>
          <p:nvPr/>
        </p:nvSpPr>
        <p:spPr>
          <a:xfrm>
            <a:off x="457200" y="2377440"/>
            <a:ext cx="1920240" cy="11887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Fix semicolon-split rows</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Handle NAN and null markers</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Cap impossible values &gt;100%</a:t>
            </a:r>
            <a:endParaRPr lang="en-US" sz="1200" dirty="0"/>
          </a:p>
        </p:txBody>
      </p:sp>
      <p:sp>
        <p:nvSpPr>
          <p:cNvPr id="9" name="Step marker"/>
          <p:cNvSpPr/>
          <p:nvPr/>
        </p:nvSpPr>
        <p:spPr>
          <a:xfrm>
            <a:off x="2587752" y="1417320"/>
            <a:ext cx="502920" cy="502920"/>
          </a:xfrm>
          <a:prstGeom prst="ellipse">
            <a:avLst/>
          </a:prstGeom>
          <a:solidFill>
            <a:srgbClr val="1B7F9E"/>
          </a:solidFill>
          <a:ln w="12700">
            <a:solidFill>
              <a:srgbClr val="FFFFFF"/>
            </a:solidFill>
            <a:prstDash val="solid"/>
          </a:ln>
        </p:spPr>
      </p:sp>
      <p:sp>
        <p:nvSpPr>
          <p:cNvPr id="10" name="Text 7"/>
          <p:cNvSpPr txBox="1"/>
          <p:nvPr/>
        </p:nvSpPr>
        <p:spPr>
          <a:xfrm>
            <a:off x="2587752" y="1417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2542032" y="2011680"/>
            <a:ext cx="1920240" cy="320040"/>
          </a:xfrm>
          <a:prstGeom prst="rect">
            <a:avLst/>
          </a:prstGeom>
          <a:noFill/>
          <a:ln/>
        </p:spPr>
        <p:txBody>
          <a:bodyPr wrap="square" lIns="0" tIns="0" rIns="0" bIns="0"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Engineer features</a:t>
            </a:r>
            <a:endParaRPr lang="en-US" sz="1500" dirty="0"/>
          </a:p>
        </p:txBody>
      </p:sp>
      <p:sp>
        <p:nvSpPr>
          <p:cNvPr id="12" name="Text 9"/>
          <p:cNvSpPr txBox="1"/>
          <p:nvPr/>
        </p:nvSpPr>
        <p:spPr>
          <a:xfrm>
            <a:off x="2542032" y="2377440"/>
            <a:ext cx="1920240" cy="11887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Urban and rural counts</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Year gap, ARC columns</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Full-access flags, region</a:t>
            </a:r>
            <a:endParaRPr lang="en-US" sz="1200" dirty="0"/>
          </a:p>
        </p:txBody>
      </p:sp>
      <p:sp>
        <p:nvSpPr>
          <p:cNvPr id="13" name="Step marker"/>
          <p:cNvSpPr/>
          <p:nvPr/>
        </p:nvSpPr>
        <p:spPr>
          <a:xfrm>
            <a:off x="4672584" y="1417320"/>
            <a:ext cx="502920" cy="502920"/>
          </a:xfrm>
          <a:prstGeom prst="ellipse">
            <a:avLst/>
          </a:prstGeom>
          <a:solidFill>
            <a:srgbClr val="0B2545"/>
          </a:solidFill>
          <a:ln w="12700">
            <a:solidFill>
              <a:srgbClr val="FFFFFF"/>
            </a:solidFill>
            <a:prstDash val="solid"/>
          </a:ln>
        </p:spPr>
      </p:sp>
      <p:sp>
        <p:nvSpPr>
          <p:cNvPr id="14" name="Text 11"/>
          <p:cNvSpPr txBox="1"/>
          <p:nvPr/>
        </p:nvSpPr>
        <p:spPr>
          <a:xfrm>
            <a:off x="4672584" y="1417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4626864" y="2011680"/>
            <a:ext cx="1920240" cy="320040"/>
          </a:xfrm>
          <a:prstGeom prst="rect">
            <a:avLst/>
          </a:prstGeom>
          <a:noFill/>
          <a:ln/>
        </p:spPr>
        <p:txBody>
          <a:bodyPr wrap="square" lIns="0" tIns="0" rIns="0" bIns="0"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Summarise</a:t>
            </a:r>
            <a:endParaRPr lang="en-US" sz="1500" dirty="0"/>
          </a:p>
        </p:txBody>
      </p:sp>
      <p:sp>
        <p:nvSpPr>
          <p:cNvPr id="16" name="Text 13"/>
          <p:cNvSpPr txBox="1"/>
          <p:nvPr/>
        </p:nvSpPr>
        <p:spPr>
          <a:xfrm>
            <a:off x="4626864" y="2377440"/>
            <a:ext cx="1920240" cy="11887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Mean, median, mode, IQR, SD</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Pivot by income group</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ARC averages and counts</a:t>
            </a:r>
            <a:endParaRPr lang="en-US" sz="1200" dirty="0"/>
          </a:p>
        </p:txBody>
      </p:sp>
      <p:sp>
        <p:nvSpPr>
          <p:cNvPr id="17" name="Step marker"/>
          <p:cNvSpPr/>
          <p:nvPr/>
        </p:nvSpPr>
        <p:spPr>
          <a:xfrm>
            <a:off x="6757416" y="1417320"/>
            <a:ext cx="502920" cy="502920"/>
          </a:xfrm>
          <a:prstGeom prst="ellipse">
            <a:avLst/>
          </a:prstGeom>
          <a:solidFill>
            <a:srgbClr val="1B7F9E"/>
          </a:solidFill>
          <a:ln w="12700">
            <a:solidFill>
              <a:srgbClr val="FFFFFF"/>
            </a:solidFill>
            <a:prstDash val="solid"/>
          </a:ln>
        </p:spPr>
      </p:sp>
      <p:sp>
        <p:nvSpPr>
          <p:cNvPr id="18" name="Text 15"/>
          <p:cNvSpPr txBox="1"/>
          <p:nvPr/>
        </p:nvSpPr>
        <p:spPr>
          <a:xfrm>
            <a:off x="6757416" y="14173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6711696" y="2011680"/>
            <a:ext cx="1920240" cy="320040"/>
          </a:xfrm>
          <a:prstGeom prst="rect">
            <a:avLst/>
          </a:prstGeom>
          <a:noFill/>
          <a:ln/>
        </p:spPr>
        <p:txBody>
          <a:bodyPr wrap="square" lIns="0" tIns="0" rIns="0" bIns="0" rtlCol="0" anchor="ctr"/>
          <a:lstStyle/>
          <a:p>
            <a:pPr marL="0" indent="0">
              <a:buNone/>
            </a:pPr>
            <a:r>
              <a:rPr lang="en-US" sz="1500" b="1" dirty="0">
                <a:solidFill>
                  <a:srgbClr val="0B2545"/>
                </a:solidFill>
                <a:latin typeface="Cambria" pitchFamily="34" charset="0"/>
                <a:ea typeface="Cambria" pitchFamily="34" charset="-122"/>
                <a:cs typeface="Cambria" pitchFamily="34" charset="-120"/>
              </a:rPr>
              <a:t>Visualise</a:t>
            </a:r>
            <a:endParaRPr lang="en-US" sz="1500" dirty="0"/>
          </a:p>
        </p:txBody>
      </p:sp>
      <p:sp>
        <p:nvSpPr>
          <p:cNvPr id="20" name="Text 17"/>
          <p:cNvSpPr txBox="1"/>
          <p:nvPr/>
        </p:nvSpPr>
        <p:spPr>
          <a:xfrm>
            <a:off x="6711696" y="2377440"/>
            <a:ext cx="1920240" cy="11887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Box plots, stacked columns</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Histograms, bubble chart</a:t>
            </a:r>
            <a:endParaRPr lang="en-US" sz="12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Plain-language takeaways</a:t>
            </a:r>
            <a:endParaRPr lang="en-US" sz="1200" dirty="0"/>
          </a:p>
        </p:txBody>
      </p:sp>
      <p:sp>
        <p:nvSpPr>
          <p:cNvPr id="21" name="Toolkit band"/>
          <p:cNvSpPr/>
          <p:nvPr/>
        </p:nvSpPr>
        <p:spPr>
          <a:xfrm>
            <a:off x="457200" y="3703320"/>
            <a:ext cx="8229600" cy="868680"/>
          </a:xfrm>
          <a:prstGeom prst="roundRect">
            <a:avLst>
              <a:gd name="adj" fmla="val 8421"/>
            </a:avLst>
          </a:prstGeom>
          <a:solidFill>
            <a:srgbClr val="F1F6F9"/>
          </a:solidFill>
          <a:ln w="12700">
            <a:solidFill>
              <a:srgbClr val="F1F6F9"/>
            </a:solidFill>
            <a:prstDash val="solid"/>
          </a:ln>
        </p:spPr>
      </p:sp>
      <p:sp>
        <p:nvSpPr>
          <p:cNvPr id="22" name="Text 19"/>
          <p:cNvSpPr txBox="1"/>
          <p:nvPr/>
        </p:nvSpPr>
        <p:spPr>
          <a:xfrm>
            <a:off x="640080" y="3749040"/>
            <a:ext cx="7863840" cy="777240"/>
          </a:xfrm>
          <a:prstGeom prst="rect">
            <a:avLst/>
          </a:prstGeom>
          <a:noFill/>
          <a:ln/>
        </p:spPr>
        <p:txBody>
          <a:bodyPr wrap="square" lIns="0" tIns="0" rIns="0" bIns="0" rtlCol="0" anchor="ctr"/>
          <a:lstStyle/>
          <a:p>
            <a:pPr marL="0" indent="0">
              <a:buNone/>
            </a:pPr>
            <a:r>
              <a:rPr lang="en-US" sz="1300" b="1" dirty="0">
                <a:solidFill>
                  <a:srgbClr val="1B7F9E"/>
                </a:solidFill>
                <a:latin typeface="Calibri" pitchFamily="34" charset="0"/>
                <a:ea typeface="Calibri" pitchFamily="34" charset="-122"/>
                <a:cs typeface="Calibri" pitchFamily="34" charset="-120"/>
              </a:rPr>
              <a:t>Spreadsheet toolkit  </a:t>
            </a:r>
            <a:r>
              <a:rPr lang="en-US" sz="1300" dirty="0">
                <a:solidFill>
                  <a:srgbClr val="0B2545"/>
                </a:solidFill>
                <a:latin typeface="Calibri" pitchFamily="34" charset="0"/>
                <a:ea typeface="Calibri" pitchFamily="34" charset="-122"/>
                <a:cs typeface="Calibri" pitchFamily="34" charset="-120"/>
              </a:rPr>
              <a:t>COUNTA, IF / IFERROR, LOOKUP, QUARTILE, ROUNDUP, COUNTIFS, pivot tables, native charts</a:t>
            </a:r>
            <a:endParaRPr lang="en-US" sz="1300" dirty="0"/>
          </a:p>
          <a:p>
            <a:pPr marL="0" indent="0">
              <a:buNone/>
            </a:pPr>
            <a:r>
              <a:rPr lang="en-US" sz="1300" b="1" dirty="0">
                <a:solidFill>
                  <a:srgbClr val="1B7F9E"/>
                </a:solidFill>
                <a:latin typeface="Calibri" pitchFamily="34" charset="0"/>
                <a:ea typeface="Calibri" pitchFamily="34" charset="-122"/>
                <a:cs typeface="Calibri" pitchFamily="34" charset="-120"/>
              </a:rPr>
              <a:t>Python reproduction  </a:t>
            </a:r>
            <a:r>
              <a:rPr lang="en-US" sz="1300" dirty="0">
                <a:solidFill>
                  <a:srgbClr val="0B2545"/>
                </a:solidFill>
                <a:latin typeface="Calibri" pitchFamily="34" charset="0"/>
                <a:ea typeface="Calibri" pitchFamily="34" charset="-122"/>
                <a:cs typeface="Calibri" pitchFamily="34" charset="-120"/>
              </a:rPr>
              <a:t>pandas and matplotlib re-derive every metric; 84 of 84 checks match the workbooks</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DATA PREPARATION</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Cleaning came first: three import problems fixed</a:t>
            </a:r>
            <a:endParaRPr lang="en-US" sz="2600" dirty="0"/>
          </a:p>
        </p:txBody>
      </p:sp>
      <p:sp>
        <p:nvSpPr>
          <p:cNvPr id="5" name="Fix card"/>
          <p:cNvSpPr/>
          <p:nvPr/>
        </p:nvSpPr>
        <p:spPr>
          <a:xfrm>
            <a:off x="457200" y="1417320"/>
            <a:ext cx="5120640" cy="960120"/>
          </a:xfrm>
          <a:prstGeom prst="roundRect">
            <a:avLst>
              <a:gd name="adj" fmla="val 7619"/>
            </a:avLst>
          </a:prstGeom>
          <a:solidFill>
            <a:srgbClr val="F1F6F9"/>
          </a:solidFill>
          <a:ln w="12700">
            <a:solidFill>
              <a:srgbClr val="F1F6F9"/>
            </a:solidFill>
            <a:prstDash val="solid"/>
          </a:ln>
        </p:spPr>
      </p:sp>
      <p:sp>
        <p:nvSpPr>
          <p:cNvPr id="6" name="Text 3"/>
          <p:cNvSpPr txBox="1"/>
          <p:nvPr/>
        </p:nvSpPr>
        <p:spPr>
          <a:xfrm>
            <a:off x="594360" y="1463040"/>
            <a:ext cx="4846320" cy="8686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Semicolon-split rows</a:t>
            </a:r>
            <a:endParaRPr lang="en-US" sz="1400" dirty="0"/>
          </a:p>
          <a:p>
            <a:pPr marL="0" indent="0">
              <a:buNone/>
            </a:pPr>
            <a:r>
              <a:rPr lang="en-US" sz="1200" dirty="0">
                <a:solidFill>
                  <a:srgbClr val="5B6B7B"/>
                </a:solidFill>
                <a:latin typeface="Calibri" pitchFamily="34" charset="0"/>
                <a:ea typeface="Calibri" pitchFamily="34" charset="-122"/>
                <a:cs typeface="Calibri" pitchFamily="34" charset="-120"/>
              </a:rPr>
              <a:t>5 rows imported into a single cell. Added value_cnt = COUNTA(row), filtered out the expected 16, then used Split text to columns on only the affected cells.</a:t>
            </a:r>
            <a:endParaRPr lang="en-US" sz="1400" dirty="0"/>
          </a:p>
        </p:txBody>
      </p:sp>
      <p:sp>
        <p:nvSpPr>
          <p:cNvPr id="7" name="Fix card"/>
          <p:cNvSpPr/>
          <p:nvPr/>
        </p:nvSpPr>
        <p:spPr>
          <a:xfrm>
            <a:off x="457200" y="2496312"/>
            <a:ext cx="5120640" cy="960120"/>
          </a:xfrm>
          <a:prstGeom prst="roundRect">
            <a:avLst>
              <a:gd name="adj" fmla="val 7619"/>
            </a:avLst>
          </a:prstGeom>
          <a:solidFill>
            <a:srgbClr val="F1F6F9"/>
          </a:solidFill>
          <a:ln w="12700">
            <a:solidFill>
              <a:srgbClr val="F1F6F9"/>
            </a:solidFill>
            <a:prstDash val="solid"/>
          </a:ln>
        </p:spPr>
      </p:sp>
      <p:sp>
        <p:nvSpPr>
          <p:cNvPr id="8" name="Text 5"/>
          <p:cNvSpPr txBox="1"/>
          <p:nvPr/>
        </p:nvSpPr>
        <p:spPr>
          <a:xfrm>
            <a:off x="594360" y="2542032"/>
            <a:ext cx="4846320" cy="8686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Shares above 100%</a:t>
            </a:r>
            <a:endParaRPr lang="en-US" sz="1400" dirty="0"/>
          </a:p>
          <a:p>
            <a:pPr marL="0" indent="0">
              <a:buNone/>
            </a:pPr>
            <a:r>
              <a:rPr lang="en-US" sz="1200" dirty="0">
                <a:solidFill>
                  <a:srgbClr val="5B6B7B"/>
                </a:solidFill>
                <a:latin typeface="Calibri" pitchFamily="34" charset="0"/>
                <a:ea typeface="Calibri" pitchFamily="34" charset="-122"/>
                <a:cs typeface="Calibri" pitchFamily="34" charset="-120"/>
              </a:rPr>
              <a:t>9 basic-access values exceeded 100% (max 100.0000037). Created wat_bas_n (rounded), so no share exceeds 100%.</a:t>
            </a:r>
            <a:endParaRPr lang="en-US" sz="1400" dirty="0"/>
          </a:p>
        </p:txBody>
      </p:sp>
      <p:sp>
        <p:nvSpPr>
          <p:cNvPr id="9" name="Fix card"/>
          <p:cNvSpPr/>
          <p:nvPr/>
        </p:nvSpPr>
        <p:spPr>
          <a:xfrm>
            <a:off x="457200" y="3575304"/>
            <a:ext cx="5120640" cy="960120"/>
          </a:xfrm>
          <a:prstGeom prst="roundRect">
            <a:avLst>
              <a:gd name="adj" fmla="val 7619"/>
            </a:avLst>
          </a:prstGeom>
          <a:solidFill>
            <a:srgbClr val="F1F6F9"/>
          </a:solidFill>
          <a:ln w="12700">
            <a:solidFill>
              <a:srgbClr val="F1F6F9"/>
            </a:solidFill>
            <a:prstDash val="solid"/>
          </a:ln>
        </p:spPr>
      </p:sp>
      <p:sp>
        <p:nvSpPr>
          <p:cNvPr id="10" name="Text 7"/>
          <p:cNvSpPr txBox="1"/>
          <p:nvPr/>
        </p:nvSpPr>
        <p:spPr>
          <a:xfrm>
            <a:off x="594360" y="3621024"/>
            <a:ext cx="4846320" cy="86868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Missing values</a:t>
            </a:r>
            <a:endParaRPr lang="en-US" sz="1400" dirty="0"/>
          </a:p>
          <a:p>
            <a:pPr marL="0" indent="0">
              <a:buNone/>
            </a:pPr>
            <a:r>
              <a:rPr lang="en-US" sz="1200" dirty="0">
                <a:solidFill>
                  <a:srgbClr val="5B6B7B"/>
                </a:solidFill>
                <a:latin typeface="Calibri" pitchFamily="34" charset="0"/>
                <a:ea typeface="Calibri" pitchFamily="34" charset="-122"/>
                <a:cs typeface="Calibri" pitchFamily="34" charset="-120"/>
              </a:rPr>
              <a:t>Missing estimates arrive as text (NAN). Replaced #VALUE! rounding errors with NAN so MAX, AVERAGE and QUARTILE ignore them.</a:t>
            </a:r>
            <a:endParaRPr lang="en-US" sz="1400" dirty="0"/>
          </a:p>
        </p:txBody>
      </p:sp>
      <p:sp>
        <p:nvSpPr>
          <p:cNvPr id="11" name="Formula card"/>
          <p:cNvSpPr/>
          <p:nvPr/>
        </p:nvSpPr>
        <p:spPr>
          <a:xfrm>
            <a:off x="5852160" y="1417320"/>
            <a:ext cx="2834640" cy="3154680"/>
          </a:xfrm>
          <a:prstGeom prst="roundRect">
            <a:avLst>
              <a:gd name="adj" fmla="val 2581"/>
            </a:avLst>
          </a:prstGeom>
          <a:solidFill>
            <a:srgbClr val="0B2545"/>
          </a:solidFill>
          <a:ln w="12700">
            <a:solidFill>
              <a:srgbClr val="0B2545"/>
            </a:solidFill>
            <a:prstDash val="solid"/>
          </a:ln>
        </p:spPr>
      </p:sp>
      <p:sp>
        <p:nvSpPr>
          <p:cNvPr id="12" name="Text 9"/>
          <p:cNvSpPr txBox="1"/>
          <p:nvPr/>
        </p:nvSpPr>
        <p:spPr>
          <a:xfrm>
            <a:off x="5989320" y="1508760"/>
            <a:ext cx="2560320" cy="2971800"/>
          </a:xfrm>
          <a:prstGeom prst="rect">
            <a:avLst/>
          </a:prstGeom>
          <a:noFill/>
          <a:ln/>
        </p:spPr>
        <p:txBody>
          <a:bodyPr wrap="square" lIns="0" tIns="0" rIns="0" bIns="0" rtlCol="0" anchor="t"/>
          <a:lstStyle/>
          <a:p>
            <a:pPr marL="0" indent="0">
              <a:spcAft>
                <a:spcPts val="800"/>
              </a:spcAft>
              <a:buNone/>
            </a:pPr>
            <a:r>
              <a:rPr lang="en-US" sz="1400" b="1" dirty="0">
                <a:solidFill>
                  <a:srgbClr val="5FB0C9"/>
                </a:solidFill>
                <a:latin typeface="Calibri" pitchFamily="34" charset="0"/>
                <a:ea typeface="Calibri" pitchFamily="34" charset="-122"/>
                <a:cs typeface="Calibri" pitchFamily="34" charset="-120"/>
              </a:rPr>
              <a:t>The check that caught them</a:t>
            </a:r>
            <a:endParaRPr lang="en-US" sz="1400" dirty="0"/>
          </a:p>
          <a:p>
            <a:pPr marL="0" indent="0">
              <a:buNone/>
            </a:pPr>
            <a:r>
              <a:rPr lang="en-US" sz="1300" dirty="0">
                <a:solidFill>
                  <a:srgbClr val="FFFFFF"/>
                </a:solidFill>
                <a:latin typeface="Courier New" pitchFamily="34" charset="0"/>
                <a:ea typeface="Courier New" pitchFamily="34" charset="-122"/>
                <a:cs typeface="Courier New" pitchFamily="34" charset="-120"/>
              </a:rPr>
              <a:t>value_cnt</a:t>
            </a:r>
            <a:endParaRPr lang="en-US" sz="1400" dirty="0"/>
          </a:p>
          <a:p>
            <a:pPr marL="0" indent="0">
              <a:spcAft>
                <a:spcPts val="1000"/>
              </a:spcAft>
              <a:buNone/>
            </a:pPr>
            <a:r>
              <a:rPr lang="en-US" sz="1300" dirty="0">
                <a:solidFill>
                  <a:srgbClr val="F2B134"/>
                </a:solidFill>
                <a:latin typeface="Courier New" pitchFamily="34" charset="0"/>
                <a:ea typeface="Courier New" pitchFamily="34" charset="-122"/>
                <a:cs typeface="Courier New" pitchFamily="34" charset="-120"/>
              </a:rPr>
              <a:t>= COUNTA(A2:P2)</a:t>
            </a:r>
            <a:endParaRPr lang="en-US" sz="1400" dirty="0"/>
          </a:p>
          <a:p>
            <a:pPr marL="0" indent="0">
              <a:buNone/>
            </a:pPr>
            <a:r>
              <a:rPr lang="en-US" sz="1300" dirty="0">
                <a:solidFill>
                  <a:srgbClr val="D9E6EE"/>
                </a:solidFill>
                <a:latin typeface="Calibri" pitchFamily="34" charset="0"/>
                <a:ea typeface="Calibri" pitchFamily="34" charset="-122"/>
                <a:cs typeface="Calibri" pitchFamily="34" charset="-120"/>
              </a:rPr>
              <a:t>Every clean row returns 16. In the final data all 213 country rows do.</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POPULATION SIZE</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The dataset covers 99.6% of the world's people</a:t>
            </a:r>
            <a:endParaRPr lang="en-US" sz="2600" dirty="0"/>
          </a:p>
        </p:txBody>
      </p:sp>
      <p:graphicFrame>
        <p:nvGraphicFramePr>
          <p:cNvPr id="5" name="Chart 0"/>
          <p:cNvGraphicFramePr/>
          <p:nvPr/>
        </p:nvGraphicFramePr>
        <p:xfrm>
          <a:off x="457200" y="1371600"/>
          <a:ext cx="47548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tat card"/>
          <p:cNvSpPr/>
          <p:nvPr/>
        </p:nvSpPr>
        <p:spPr>
          <a:xfrm>
            <a:off x="5486400" y="1371600"/>
            <a:ext cx="3200400" cy="960120"/>
          </a:xfrm>
          <a:prstGeom prst="roundRect">
            <a:avLst>
              <a:gd name="adj" fmla="val 7619"/>
            </a:avLst>
          </a:prstGeom>
          <a:solidFill>
            <a:srgbClr val="F1F6F9"/>
          </a:solidFill>
          <a:ln w="12700">
            <a:solidFill>
              <a:srgbClr val="F1F6F9"/>
            </a:solidFill>
            <a:prstDash val="solid"/>
          </a:ln>
        </p:spPr>
      </p:sp>
      <p:sp>
        <p:nvSpPr>
          <p:cNvPr id="7" name="Text 3"/>
          <p:cNvSpPr txBox="1"/>
          <p:nvPr/>
        </p:nvSpPr>
        <p:spPr>
          <a:xfrm>
            <a:off x="5623560" y="1444752"/>
            <a:ext cx="2926080" cy="48006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0.44%</a:t>
            </a:r>
            <a:endParaRPr lang="en-US" sz="2800" dirty="0"/>
          </a:p>
        </p:txBody>
      </p:sp>
      <p:sp>
        <p:nvSpPr>
          <p:cNvPr id="8" name="Text 4"/>
          <p:cNvSpPr txBox="1"/>
          <p:nvPr/>
        </p:nvSpPr>
        <p:spPr>
          <a:xfrm>
            <a:off x="5623560" y="1899666"/>
            <a:ext cx="292608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difference in total population (dataset vs 7.821 bn world)</a:t>
            </a:r>
            <a:endParaRPr lang="en-US" sz="1200" dirty="0"/>
          </a:p>
        </p:txBody>
      </p:sp>
      <p:sp>
        <p:nvSpPr>
          <p:cNvPr id="9" name="Stat card"/>
          <p:cNvSpPr/>
          <p:nvPr/>
        </p:nvSpPr>
        <p:spPr>
          <a:xfrm>
            <a:off x="5486400" y="2468880"/>
            <a:ext cx="3200400" cy="960120"/>
          </a:xfrm>
          <a:prstGeom prst="roundRect">
            <a:avLst>
              <a:gd name="adj" fmla="val 7619"/>
            </a:avLst>
          </a:prstGeom>
          <a:solidFill>
            <a:srgbClr val="F1F6F9"/>
          </a:solidFill>
          <a:ln w="12700">
            <a:solidFill>
              <a:srgbClr val="F1F6F9"/>
            </a:solidFill>
            <a:prstDash val="solid"/>
          </a:ln>
        </p:spPr>
      </p:sp>
      <p:sp>
        <p:nvSpPr>
          <p:cNvPr id="10" name="Text 6"/>
          <p:cNvSpPr txBox="1"/>
          <p:nvPr/>
        </p:nvSpPr>
        <p:spPr>
          <a:xfrm>
            <a:off x="5623560" y="2542032"/>
            <a:ext cx="2926080" cy="480060"/>
          </a:xfrm>
          <a:prstGeom prst="rect">
            <a:avLst/>
          </a:prstGeom>
          <a:noFill/>
          <a:ln/>
        </p:spPr>
        <p:txBody>
          <a:bodyPr wrap="square" lIns="0" tIns="0" rIns="0" bIns="0" rtlCol="0" anchor="ctr"/>
          <a:lstStyle/>
          <a:p>
            <a:pPr marL="0" indent="0">
              <a:buNone/>
            </a:pPr>
            <a:r>
              <a:rPr lang="en-US" sz="2800" b="1" dirty="0">
                <a:solidFill>
                  <a:srgbClr val="1B7F9E"/>
                </a:solidFill>
                <a:latin typeface="Cambria" pitchFamily="34" charset="0"/>
                <a:ea typeface="Cambria" pitchFamily="34" charset="-122"/>
                <a:cs typeface="Cambria" pitchFamily="34" charset="-120"/>
              </a:rPr>
              <a:t>56.2%</a:t>
            </a:r>
            <a:endParaRPr lang="en-US" sz="2800" dirty="0"/>
          </a:p>
        </p:txBody>
      </p:sp>
      <p:sp>
        <p:nvSpPr>
          <p:cNvPr id="11" name="Text 7"/>
          <p:cNvSpPr txBox="1"/>
          <p:nvPr/>
        </p:nvSpPr>
        <p:spPr>
          <a:xfrm>
            <a:off x="5623560" y="2996946"/>
            <a:ext cx="292608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urban share in the dataset vs 55% for the world</a:t>
            </a:r>
            <a:endParaRPr lang="en-US" sz="1200" dirty="0"/>
          </a:p>
        </p:txBody>
      </p:sp>
      <p:sp>
        <p:nvSpPr>
          <p:cNvPr id="12" name="Stat card"/>
          <p:cNvSpPr/>
          <p:nvPr/>
        </p:nvSpPr>
        <p:spPr>
          <a:xfrm>
            <a:off x="5486400" y="3566160"/>
            <a:ext cx="3200400" cy="960120"/>
          </a:xfrm>
          <a:prstGeom prst="roundRect">
            <a:avLst>
              <a:gd name="adj" fmla="val 7619"/>
            </a:avLst>
          </a:prstGeom>
          <a:solidFill>
            <a:srgbClr val="F1F6F9"/>
          </a:solidFill>
          <a:ln w="12700">
            <a:solidFill>
              <a:srgbClr val="F1F6F9"/>
            </a:solidFill>
            <a:prstDash val="solid"/>
          </a:ln>
        </p:spPr>
      </p:sp>
      <p:sp>
        <p:nvSpPr>
          <p:cNvPr id="13" name="Text 9"/>
          <p:cNvSpPr txBox="1"/>
          <p:nvPr/>
        </p:nvSpPr>
        <p:spPr>
          <a:xfrm>
            <a:off x="5623560" y="3639312"/>
            <a:ext cx="2926080" cy="480060"/>
          </a:xfrm>
          <a:prstGeom prst="rect">
            <a:avLst/>
          </a:prstGeom>
          <a:noFill/>
          <a:ln/>
        </p:spPr>
        <p:txBody>
          <a:bodyPr wrap="square" lIns="0" tIns="0" rIns="0" bIns="0" rtlCol="0" anchor="ctr"/>
          <a:lstStyle/>
          <a:p>
            <a:pPr marL="0" indent="0">
              <a:buNone/>
            </a:pPr>
            <a:r>
              <a:rPr lang="en-US" sz="2800" b="1" dirty="0">
                <a:solidFill>
                  <a:srgbClr val="E07A3F"/>
                </a:solidFill>
                <a:latin typeface="Cambria" pitchFamily="34" charset="0"/>
                <a:ea typeface="Cambria" pitchFamily="34" charset="-122"/>
                <a:cs typeface="Cambria" pitchFamily="34" charset="-120"/>
              </a:rPr>
              <a:t>1.70%</a:t>
            </a:r>
            <a:endParaRPr lang="en-US" sz="2800" dirty="0"/>
          </a:p>
        </p:txBody>
      </p:sp>
      <p:sp>
        <p:nvSpPr>
          <p:cNvPr id="14" name="Text 10"/>
          <p:cNvSpPr txBox="1"/>
          <p:nvPr/>
        </p:nvSpPr>
        <p:spPr>
          <a:xfrm>
            <a:off x="5623560" y="4094226"/>
            <a:ext cx="292608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difference in urban head count vs the world estimate</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POPULATION SIZE</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Population size says nothing about how urban a country is</a:t>
            </a:r>
            <a:endParaRPr lang="en-US" sz="2600" dirty="0"/>
          </a:p>
        </p:txBody>
      </p:sp>
      <p:pic>
        <p:nvPicPr>
          <p:cNvPr id="5" name="Image 0" descr="Scatter of urban share against national population on a log scale"/>
          <p:cNvPicPr>
            <a:picLocks noChangeAspect="1"/>
          </p:cNvPicPr>
          <p:nvPr/>
        </p:nvPicPr>
        <p:blipFill>
          <a:blip r:embed="rId3"/>
          <a:stretch>
            <a:fillRect/>
          </a:stretch>
        </p:blipFill>
        <p:spPr>
          <a:xfrm>
            <a:off x="597843" y="1371600"/>
            <a:ext cx="5113673" cy="3291840"/>
          </a:xfrm>
          <a:prstGeom prst="rect">
            <a:avLst/>
          </a:prstGeom>
        </p:spPr>
      </p:pic>
      <p:sp>
        <p:nvSpPr>
          <p:cNvPr id="6" name="Text 2"/>
          <p:cNvSpPr txBox="1"/>
          <p:nvPr/>
        </p:nvSpPr>
        <p:spPr>
          <a:xfrm>
            <a:off x="6126480" y="1371600"/>
            <a:ext cx="2560320" cy="3291840"/>
          </a:xfrm>
          <a:prstGeom prst="rect">
            <a:avLst/>
          </a:prstGeom>
          <a:noFill/>
          <a:ln/>
        </p:spPr>
        <p:txBody>
          <a:bodyPr wrap="square" lIns="0" tIns="0" rIns="0" bIns="0" rtlCol="0" anchor="t"/>
          <a:lstStyle/>
          <a:p>
            <a:pPr marL="0" indent="0">
              <a:spcAft>
                <a:spcPts val="600"/>
              </a:spcAft>
              <a:buNone/>
            </a:pPr>
            <a:r>
              <a:rPr lang="en-US" sz="3000" b="1" dirty="0">
                <a:solidFill>
                  <a:srgbClr val="1B7F9E"/>
                </a:solidFill>
                <a:latin typeface="Cambria" pitchFamily="34" charset="0"/>
                <a:ea typeface="Cambria" pitchFamily="34" charset="-122"/>
                <a:cs typeface="Cambria" pitchFamily="34" charset="-120"/>
              </a:rPr>
              <a:t>r = -0.06</a:t>
            </a:r>
            <a:endParaRPr lang="en-US" sz="3000" dirty="0"/>
          </a:p>
          <a:p>
            <a:pPr marL="0" indent="0">
              <a:spcAft>
                <a:spcPts val="1200"/>
              </a:spcAft>
              <a:buNone/>
            </a:pPr>
            <a:r>
              <a:rPr lang="en-US" sz="1400" dirty="0">
                <a:solidFill>
                  <a:srgbClr val="0B2545"/>
                </a:solidFill>
                <a:latin typeface="Calibri" pitchFamily="34" charset="0"/>
                <a:ea typeface="Calibri" pitchFamily="34" charset="-122"/>
                <a:cs typeface="Calibri" pitchFamily="34" charset="-120"/>
              </a:rPr>
              <a:t>Large and small countries are equally likely to be mostly urban or mostly rural.</a:t>
            </a:r>
            <a:endParaRPr lang="en-US" sz="3000" dirty="0"/>
          </a:p>
          <a:p>
            <a:pPr marL="0" indent="0">
              <a:spcAft>
                <a:spcPts val="400"/>
              </a:spcAft>
              <a:buNone/>
            </a:pPr>
            <a:r>
              <a:rPr lang="en-US" sz="1400" b="1" dirty="0">
                <a:solidFill>
                  <a:srgbClr val="0B2545"/>
                </a:solidFill>
                <a:latin typeface="Calibri" pitchFamily="34" charset="0"/>
                <a:ea typeface="Calibri" pitchFamily="34" charset="-122"/>
                <a:cs typeface="Calibri" pitchFamily="34" charset="-120"/>
              </a:rPr>
              <a:t>Chart decision log</a:t>
            </a:r>
            <a:endParaRPr lang="en-US" sz="30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Outliers (China, India) crushed the first line chart</a:t>
            </a:r>
            <a:endParaRPr lang="en-US" sz="30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Chose a unit change over deleting data</a:t>
            </a:r>
            <a:endParaRPr lang="en-US" sz="3000" dirty="0"/>
          </a:p>
          <a:p>
            <a:pPr marL="177800" indent="-177800">
              <a:spcAft>
                <a:spcPts val="300"/>
              </a:spcAft>
              <a:buSzPct val="100000"/>
              <a:buChar char="•"/>
            </a:pPr>
            <a:r>
              <a:rPr lang="en-US" sz="1200" dirty="0">
                <a:solidFill>
                  <a:srgbClr val="0B2545"/>
                </a:solidFill>
                <a:latin typeface="Calibri" pitchFamily="34" charset="0"/>
                <a:ea typeface="Calibri" pitchFamily="34" charset="-122"/>
                <a:cs typeface="Calibri" pitchFamily="34" charset="-120"/>
              </a:rPr>
              <a:t>A log axis keeps all 213 countries visible</a:t>
            </a:r>
            <a:endParaRPr lang="en-US" sz="3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ACCESS BY AREA</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Rural access is both lower and far less even than urban</a:t>
            </a:r>
            <a:endParaRPr lang="en-US" sz="2600" dirty="0"/>
          </a:p>
        </p:txBody>
      </p:sp>
      <p:pic>
        <p:nvPicPr>
          <p:cNvPr id="5" name="Image 0" descr="Box and whisker plots of the 12 water access features"/>
          <p:cNvPicPr>
            <a:picLocks noChangeAspect="1"/>
          </p:cNvPicPr>
          <p:nvPr/>
        </p:nvPicPr>
        <p:blipFill>
          <a:blip r:embed="rId3"/>
          <a:stretch>
            <a:fillRect/>
          </a:stretch>
        </p:blipFill>
        <p:spPr>
          <a:xfrm>
            <a:off x="457200" y="1421249"/>
            <a:ext cx="5486400" cy="3192541"/>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26480" y="1371600"/>
          <a:ext cx="2560320" cy="1554480"/>
        </p:xfrm>
        <a:graphic>
          <a:graphicData uri="http://schemas.openxmlformats.org/drawingml/2006/table">
            <a:tbl>
              <a:tblPr/>
              <a:tblGrid>
                <a:gridCol w="9144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31089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Basic %</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Natl</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Rural</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Urban</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10896">
                <a:tc>
                  <a:txBody>
                    <a:bodyPr/>
                    <a:lstStyle/>
                    <a:p>
                      <a:pPr marL="0" indent="0" algn="l">
                        <a:buNone/>
                      </a:pPr>
                      <a:r>
                        <a:rPr lang="en-US" sz="1200" b="1" dirty="0">
                          <a:solidFill>
                            <a:srgbClr val="0B2545"/>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89.9</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81.3</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94.7</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1"/>
                  </a:ext>
                </a:extLst>
              </a:tr>
              <a:tr h="310896">
                <a:tc>
                  <a:txBody>
                    <a:bodyPr/>
                    <a:lstStyle/>
                    <a:p>
                      <a:pPr marL="0" indent="0" algn="l">
                        <a:buNone/>
                      </a:pPr>
                      <a:r>
                        <a:rPr lang="en-US" sz="1200" b="1" dirty="0">
                          <a:solidFill>
                            <a:srgbClr val="0B2545"/>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97.3</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90.7</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98.1</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lgn="l">
                        <a:buNone/>
                      </a:pPr>
                      <a:r>
                        <a:rPr lang="en-US" sz="1200" b="1" dirty="0">
                          <a:solidFill>
                            <a:srgbClr val="0B2545"/>
                          </a:solidFill>
                          <a:latin typeface="Calibri" pitchFamily="34" charset="0"/>
                          <a:ea typeface="Calibri" pitchFamily="34" charset="-122"/>
                          <a:cs typeface="Calibri" pitchFamily="34" charset="-120"/>
                        </a:rPr>
                        <a:t>IQR</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14.2</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3"/>
                  </a:ext>
                </a:extLst>
              </a:tr>
              <a:tr h="310896">
                <a:tc>
                  <a:txBody>
                    <a:bodyPr/>
                    <a:lstStyle/>
                    <a:p>
                      <a:pPr marL="0" indent="0" algn="l">
                        <a:buNone/>
                      </a:pPr>
                      <a:r>
                        <a:rPr lang="en-US" sz="1200" b="1" dirty="0">
                          <a:solidFill>
                            <a:srgbClr val="0B2545"/>
                          </a:solidFill>
                          <a:latin typeface="Calibri" pitchFamily="34" charset="0"/>
                          <a:ea typeface="Calibri" pitchFamily="34" charset="-122"/>
                          <a:cs typeface="Calibri" pitchFamily="34" charset="-120"/>
                        </a:rPr>
                        <a:t>Lowest</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37.2</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22.0</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2545"/>
                          </a:solidFill>
                          <a:latin typeface="Calibri" pitchFamily="34" charset="0"/>
                          <a:ea typeface="Calibri" pitchFamily="34" charset="-122"/>
                          <a:cs typeface="Calibri" pitchFamily="34" charset="-120"/>
                        </a:rPr>
                        <a:t>49.7</a:t>
                      </a:r>
                      <a:endParaRPr lang="en-US" sz="1200" dirty="0">
                        <a:latin typeface="Calibri" charset="0"/>
                        <a:ea typeface="Calibri" charset="0"/>
                        <a:cs typeface="Calibri" charset="0"/>
                      </a:endParaRPr>
                    </a:p>
                  </a:txBody>
                  <a:tcPr marL="54864" marR="54864"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ext 2"/>
          <p:cNvSpPr txBox="1"/>
          <p:nvPr/>
        </p:nvSpPr>
        <p:spPr>
          <a:xfrm>
            <a:off x="6126480" y="3108960"/>
            <a:ext cx="2560320" cy="1554480"/>
          </a:xfrm>
          <a:prstGeom prst="rect">
            <a:avLst/>
          </a:prstGeom>
          <a:noFill/>
          <a:ln/>
        </p:spPr>
        <p:txBody>
          <a:bodyPr wrap="square" lIns="0" tIns="0" rIns="0" bIns="0" rtlCol="0" anchor="t"/>
          <a:lstStyle/>
          <a:p>
            <a:pPr marL="0" indent="0">
              <a:spcAft>
                <a:spcPts val="600"/>
              </a:spcAft>
              <a:buNone/>
            </a:pPr>
            <a:r>
              <a:rPr lang="en-US" sz="1300" dirty="0">
                <a:solidFill>
                  <a:srgbClr val="0B2545"/>
                </a:solidFill>
                <a:latin typeface="Calibri" pitchFamily="34" charset="0"/>
                <a:ea typeface="Calibri" pitchFamily="34" charset="-122"/>
                <a:cs typeface="Calibri" pitchFamily="34" charset="-120"/>
              </a:rPr>
              <a:t>Rural spread (IQR) is 4.6x the urban spread.</a:t>
            </a:r>
            <a:endParaRPr lang="en-US" sz="1300" dirty="0"/>
          </a:p>
          <a:p>
            <a:pPr marL="0" indent="0">
              <a:buNone/>
            </a:pPr>
            <a:r>
              <a:rPr lang="en-US" sz="1300" dirty="0">
                <a:solidFill>
                  <a:srgbClr val="0B2545"/>
                </a:solidFill>
                <a:latin typeface="Calibri" pitchFamily="34" charset="0"/>
                <a:ea typeface="Calibri" pitchFamily="34" charset="-122"/>
                <a:cs typeface="Calibri" pitchFamily="34" charset="-120"/>
              </a:rPr>
              <a:t>Most countries sit at or near 100% (mode = 100), pulling the median above the mean.</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ACCESS BY AREA</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Where basic water is missing, rural people fall to the lowest rungs</a:t>
            </a:r>
            <a:endParaRPr lang="en-US" sz="2600" dirty="0"/>
          </a:p>
        </p:txBody>
      </p:sp>
      <p:graphicFrame>
        <p:nvGraphicFramePr>
          <p:cNvPr id="5" name="Chart 0"/>
          <p:cNvGraphicFramePr/>
          <p:nvPr/>
        </p:nvGraphicFramePr>
        <p:xfrm>
          <a:off x="457200" y="1371600"/>
          <a:ext cx="53035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tat card"/>
          <p:cNvSpPr/>
          <p:nvPr/>
        </p:nvSpPr>
        <p:spPr>
          <a:xfrm>
            <a:off x="6035040" y="1371600"/>
            <a:ext cx="2651760" cy="960120"/>
          </a:xfrm>
          <a:prstGeom prst="roundRect">
            <a:avLst>
              <a:gd name="adj" fmla="val 7619"/>
            </a:avLst>
          </a:prstGeom>
          <a:solidFill>
            <a:srgbClr val="F1F6F9"/>
          </a:solidFill>
          <a:ln w="12700">
            <a:solidFill>
              <a:srgbClr val="F1F6F9"/>
            </a:solidFill>
            <a:prstDash val="solid"/>
          </a:ln>
        </p:spPr>
      </p:sp>
      <p:sp>
        <p:nvSpPr>
          <p:cNvPr id="7" name="Text 3"/>
          <p:cNvSpPr txBox="1"/>
          <p:nvPr/>
        </p:nvSpPr>
        <p:spPr>
          <a:xfrm>
            <a:off x="6172200" y="1444752"/>
            <a:ext cx="2377440" cy="480060"/>
          </a:xfrm>
          <a:prstGeom prst="rect">
            <a:avLst/>
          </a:prstGeom>
          <a:noFill/>
          <a:ln/>
        </p:spPr>
        <p:txBody>
          <a:bodyPr wrap="square" lIns="0" tIns="0" rIns="0" bIns="0" rtlCol="0" anchor="ctr"/>
          <a:lstStyle/>
          <a:p>
            <a:pPr marL="0" indent="0">
              <a:buNone/>
            </a:pPr>
            <a:r>
              <a:rPr lang="en-US" sz="2800" b="1" dirty="0">
                <a:solidFill>
                  <a:srgbClr val="B83227"/>
                </a:solidFill>
                <a:latin typeface="Cambria" pitchFamily="34" charset="0"/>
                <a:ea typeface="Cambria" pitchFamily="34" charset="-122"/>
                <a:cs typeface="Cambria" pitchFamily="34" charset="-120"/>
              </a:rPr>
              <a:t>13.5x</a:t>
            </a:r>
            <a:endParaRPr lang="en-US" sz="2800" dirty="0"/>
          </a:p>
        </p:txBody>
      </p:sp>
      <p:sp>
        <p:nvSpPr>
          <p:cNvPr id="8" name="Text 4"/>
          <p:cNvSpPr txBox="1"/>
          <p:nvPr/>
        </p:nvSpPr>
        <p:spPr>
          <a:xfrm>
            <a:off x="6172200" y="1899666"/>
            <a:ext cx="237744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rural vs urban reliance on surface water</a:t>
            </a:r>
            <a:endParaRPr lang="en-US" sz="1200" dirty="0"/>
          </a:p>
        </p:txBody>
      </p:sp>
      <p:sp>
        <p:nvSpPr>
          <p:cNvPr id="9" name="Stat card"/>
          <p:cNvSpPr/>
          <p:nvPr/>
        </p:nvSpPr>
        <p:spPr>
          <a:xfrm>
            <a:off x="6035040" y="2468880"/>
            <a:ext cx="2651760" cy="960120"/>
          </a:xfrm>
          <a:prstGeom prst="roundRect">
            <a:avLst>
              <a:gd name="adj" fmla="val 7619"/>
            </a:avLst>
          </a:prstGeom>
          <a:solidFill>
            <a:srgbClr val="F1F6F9"/>
          </a:solidFill>
          <a:ln w="12700">
            <a:solidFill>
              <a:srgbClr val="F1F6F9"/>
            </a:solidFill>
            <a:prstDash val="solid"/>
          </a:ln>
        </p:spPr>
      </p:sp>
      <p:sp>
        <p:nvSpPr>
          <p:cNvPr id="10" name="Text 6"/>
          <p:cNvSpPr txBox="1"/>
          <p:nvPr/>
        </p:nvSpPr>
        <p:spPr>
          <a:xfrm>
            <a:off x="6172200" y="2542032"/>
            <a:ext cx="2377440" cy="480060"/>
          </a:xfrm>
          <a:prstGeom prst="rect">
            <a:avLst/>
          </a:prstGeom>
          <a:noFill/>
          <a:ln/>
        </p:spPr>
        <p:txBody>
          <a:bodyPr wrap="square" lIns="0" tIns="0" rIns="0" bIns="0" rtlCol="0" anchor="ctr"/>
          <a:lstStyle/>
          <a:p>
            <a:pPr marL="0" indent="0">
              <a:buNone/>
            </a:pPr>
            <a:r>
              <a:rPr lang="en-US" sz="2800" b="1" dirty="0">
                <a:solidFill>
                  <a:srgbClr val="E07A3F"/>
                </a:solidFill>
                <a:latin typeface="Cambria" pitchFamily="34" charset="0"/>
                <a:ea typeface="Cambria" pitchFamily="34" charset="-122"/>
                <a:cs typeface="Cambria" pitchFamily="34" charset="-120"/>
              </a:rPr>
              <a:t>5.1x</a:t>
            </a:r>
            <a:endParaRPr lang="en-US" sz="2800" dirty="0"/>
          </a:p>
        </p:txBody>
      </p:sp>
      <p:sp>
        <p:nvSpPr>
          <p:cNvPr id="11" name="Text 7"/>
          <p:cNvSpPr txBox="1"/>
          <p:nvPr/>
        </p:nvSpPr>
        <p:spPr>
          <a:xfrm>
            <a:off x="6172200" y="2996946"/>
            <a:ext cx="237744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rural vs urban reliance on unimproved sources</a:t>
            </a:r>
            <a:endParaRPr lang="en-US" sz="1200" dirty="0"/>
          </a:p>
        </p:txBody>
      </p:sp>
      <p:sp>
        <p:nvSpPr>
          <p:cNvPr id="12" name="Stat card"/>
          <p:cNvSpPr/>
          <p:nvPr/>
        </p:nvSpPr>
        <p:spPr>
          <a:xfrm>
            <a:off x="6035040" y="3566160"/>
            <a:ext cx="2651760" cy="960120"/>
          </a:xfrm>
          <a:prstGeom prst="roundRect">
            <a:avLst>
              <a:gd name="adj" fmla="val 7619"/>
            </a:avLst>
          </a:prstGeom>
          <a:solidFill>
            <a:srgbClr val="F1F6F9"/>
          </a:solidFill>
          <a:ln w="12700">
            <a:solidFill>
              <a:srgbClr val="F1F6F9"/>
            </a:solidFill>
            <a:prstDash val="solid"/>
          </a:ln>
        </p:spPr>
      </p:sp>
      <p:sp>
        <p:nvSpPr>
          <p:cNvPr id="13" name="Text 9"/>
          <p:cNvSpPr txBox="1"/>
          <p:nvPr/>
        </p:nvSpPr>
        <p:spPr>
          <a:xfrm>
            <a:off x="6172200" y="3639312"/>
            <a:ext cx="2377440" cy="480060"/>
          </a:xfrm>
          <a:prstGeom prst="rect">
            <a:avLst/>
          </a:prstGeom>
          <a:noFill/>
          <a:ln/>
        </p:spPr>
        <p:txBody>
          <a:bodyPr wrap="square" lIns="0" tIns="0" rIns="0" bIns="0" rtlCol="0" anchor="ctr"/>
          <a:lstStyle/>
          <a:p>
            <a:pPr marL="0" indent="0">
              <a:buNone/>
            </a:pPr>
            <a:r>
              <a:rPr lang="en-US" sz="2800" b="1" dirty="0">
                <a:solidFill>
                  <a:srgbClr val="1B7F9E"/>
                </a:solidFill>
                <a:latin typeface="Cambria" pitchFamily="34" charset="0"/>
                <a:ea typeface="Cambria" pitchFamily="34" charset="-122"/>
                <a:cs typeface="Cambria" pitchFamily="34" charset="-120"/>
              </a:rPr>
              <a:t>94.7%</a:t>
            </a:r>
            <a:endParaRPr lang="en-US" sz="2800" dirty="0"/>
          </a:p>
        </p:txBody>
      </p:sp>
      <p:sp>
        <p:nvSpPr>
          <p:cNvPr id="14" name="Text 10"/>
          <p:cNvSpPr txBox="1"/>
          <p:nvPr/>
        </p:nvSpPr>
        <p:spPr>
          <a:xfrm>
            <a:off x="6172200" y="4094226"/>
            <a:ext cx="237744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urban basic access vs 81.3% rural</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ACCESS BY POPULATION SIZE</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Access tracks how rural a country is, not how many people live there</a:t>
            </a:r>
            <a:endParaRPr lang="en-US" sz="2600" dirty="0"/>
          </a:p>
        </p:txBody>
      </p:sp>
      <p:pic>
        <p:nvPicPr>
          <p:cNvPr id="5" name="Image 0" descr="Urban access by urban population share"/>
          <p:cNvPicPr>
            <a:picLocks noChangeAspect="1"/>
          </p:cNvPicPr>
          <p:nvPr/>
        </p:nvPicPr>
        <p:blipFill>
          <a:blip r:embed="rId3"/>
          <a:stretch>
            <a:fillRect/>
          </a:stretch>
        </p:blipFill>
        <p:spPr>
          <a:xfrm>
            <a:off x="574191" y="1371600"/>
            <a:ext cx="3789379" cy="2697480"/>
          </a:xfrm>
          <a:prstGeom prst="rect">
            <a:avLst/>
          </a:prstGeom>
        </p:spPr>
      </p:pic>
      <p:pic>
        <p:nvPicPr>
          <p:cNvPr id="6" name="Image 1" descr="Rural access by rural population share"/>
          <p:cNvPicPr>
            <a:picLocks noChangeAspect="1"/>
          </p:cNvPicPr>
          <p:nvPr/>
        </p:nvPicPr>
        <p:blipFill>
          <a:blip r:embed="rId4"/>
          <a:stretch>
            <a:fillRect/>
          </a:stretch>
        </p:blipFill>
        <p:spPr>
          <a:xfrm>
            <a:off x="4780431" y="1371600"/>
            <a:ext cx="3789379" cy="2697480"/>
          </a:xfrm>
          <a:prstGeom prst="rect">
            <a:avLst/>
          </a:prstGeom>
        </p:spPr>
      </p:pic>
      <p:sp>
        <p:nvSpPr>
          <p:cNvPr id="7" name="Text 2"/>
          <p:cNvSpPr txBox="1"/>
          <p:nvPr/>
        </p:nvSpPr>
        <p:spPr>
          <a:xfrm>
            <a:off x="457200" y="4114800"/>
            <a:ext cx="8229600" cy="6400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Population size vs basic access: r = 0.00.  Urban share vs basic access: r = 0.55.</a:t>
            </a:r>
            <a:endParaRPr lang="en-US" sz="1300" dirty="0"/>
          </a:p>
          <a:p>
            <a:pPr marL="0" indent="0">
              <a:buNone/>
            </a:pPr>
            <a:r>
              <a:rPr lang="en-US" sz="1300" dirty="0">
                <a:solidFill>
                  <a:srgbClr val="0B2545"/>
                </a:solidFill>
                <a:latin typeface="Calibri" pitchFamily="34" charset="0"/>
                <a:ea typeface="Calibri" pitchFamily="34" charset="-122"/>
                <a:cs typeface="Calibri" pitchFamily="34" charset="-120"/>
              </a:rPr>
              <a:t>Rural basic access is weakest (about 65-70%) in countries where 50-89% of people live in rural areas.</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ACCESS BY INCOME GROUP</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Income is the sharpest divider: low-income countries lag by 37 points</a:t>
            </a:r>
            <a:endParaRPr lang="en-US" sz="2600" dirty="0"/>
          </a:p>
        </p:txBody>
      </p:sp>
      <p:graphicFrame>
        <p:nvGraphicFramePr>
          <p:cNvPr id="5" name="Chart 0"/>
          <p:cNvGraphicFramePr/>
          <p:nvPr/>
        </p:nvGraphicFramePr>
        <p:xfrm>
          <a:off x="457200" y="1371600"/>
          <a:ext cx="53949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tat card"/>
          <p:cNvSpPr/>
          <p:nvPr/>
        </p:nvSpPr>
        <p:spPr>
          <a:xfrm>
            <a:off x="6126480" y="1371600"/>
            <a:ext cx="2560320" cy="960120"/>
          </a:xfrm>
          <a:prstGeom prst="roundRect">
            <a:avLst>
              <a:gd name="adj" fmla="val 7619"/>
            </a:avLst>
          </a:prstGeom>
          <a:solidFill>
            <a:srgbClr val="F1F6F9"/>
          </a:solidFill>
          <a:ln w="12700">
            <a:solidFill>
              <a:srgbClr val="F1F6F9"/>
            </a:solidFill>
            <a:prstDash val="solid"/>
          </a:ln>
        </p:spPr>
      </p:sp>
      <p:sp>
        <p:nvSpPr>
          <p:cNvPr id="7" name="Text 3"/>
          <p:cNvSpPr txBox="1"/>
          <p:nvPr/>
        </p:nvSpPr>
        <p:spPr>
          <a:xfrm>
            <a:off x="6263640" y="1444752"/>
            <a:ext cx="2286000" cy="480060"/>
          </a:xfrm>
          <a:prstGeom prst="rect">
            <a:avLst/>
          </a:prstGeom>
          <a:noFill/>
          <a:ln/>
        </p:spPr>
        <p:txBody>
          <a:bodyPr wrap="square" lIns="0" tIns="0" rIns="0" bIns="0" rtlCol="0" anchor="ctr"/>
          <a:lstStyle/>
          <a:p>
            <a:pPr marL="0" indent="0">
              <a:buNone/>
            </a:pPr>
            <a:r>
              <a:rPr lang="en-US" sz="2600" b="1" dirty="0">
                <a:solidFill>
                  <a:srgbClr val="B83227"/>
                </a:solidFill>
                <a:latin typeface="Cambria" pitchFamily="34" charset="0"/>
                <a:ea typeface="Cambria" pitchFamily="34" charset="-122"/>
                <a:cs typeface="Cambria" pitchFamily="34" charset="-120"/>
              </a:rPr>
              <a:t>62.8%</a:t>
            </a:r>
            <a:endParaRPr lang="en-US" sz="2600" dirty="0"/>
          </a:p>
        </p:txBody>
      </p:sp>
      <p:sp>
        <p:nvSpPr>
          <p:cNvPr id="8" name="Text 4"/>
          <p:cNvSpPr txBox="1"/>
          <p:nvPr/>
        </p:nvSpPr>
        <p:spPr>
          <a:xfrm>
            <a:off x="6263640" y="1899666"/>
            <a:ext cx="228600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basic access, low income (high income: 99.6%)</a:t>
            </a:r>
            <a:endParaRPr lang="en-US" sz="1200" dirty="0"/>
          </a:p>
        </p:txBody>
      </p:sp>
      <p:sp>
        <p:nvSpPr>
          <p:cNvPr id="9" name="Stat card"/>
          <p:cNvSpPr/>
          <p:nvPr/>
        </p:nvSpPr>
        <p:spPr>
          <a:xfrm>
            <a:off x="6126480" y="2468880"/>
            <a:ext cx="2560320" cy="960120"/>
          </a:xfrm>
          <a:prstGeom prst="roundRect">
            <a:avLst>
              <a:gd name="adj" fmla="val 7619"/>
            </a:avLst>
          </a:prstGeom>
          <a:solidFill>
            <a:srgbClr val="F1F6F9"/>
          </a:solidFill>
          <a:ln w="12700">
            <a:solidFill>
              <a:srgbClr val="F1F6F9"/>
            </a:solidFill>
            <a:prstDash val="solid"/>
          </a:ln>
        </p:spPr>
      </p:sp>
      <p:sp>
        <p:nvSpPr>
          <p:cNvPr id="10" name="Text 6"/>
          <p:cNvSpPr txBox="1"/>
          <p:nvPr/>
        </p:nvSpPr>
        <p:spPr>
          <a:xfrm>
            <a:off x="6263640" y="2542032"/>
            <a:ext cx="2286000" cy="480060"/>
          </a:xfrm>
          <a:prstGeom prst="rect">
            <a:avLst/>
          </a:prstGeom>
          <a:noFill/>
          <a:ln/>
        </p:spPr>
        <p:txBody>
          <a:bodyPr wrap="square" lIns="0" tIns="0" rIns="0" bIns="0" rtlCol="0" anchor="ctr"/>
          <a:lstStyle/>
          <a:p>
            <a:pPr marL="0" indent="0">
              <a:buNone/>
            </a:pPr>
            <a:r>
              <a:rPr lang="en-US" sz="2600" b="1" dirty="0">
                <a:solidFill>
                  <a:srgbClr val="E07A3F"/>
                </a:solidFill>
                <a:latin typeface="Cambria" pitchFamily="34" charset="0"/>
                <a:ea typeface="Cambria" pitchFamily="34" charset="-122"/>
                <a:cs typeface="Cambria" pitchFamily="34" charset="-120"/>
              </a:rPr>
              <a:t>5.4%</a:t>
            </a:r>
            <a:endParaRPr lang="en-US" sz="2600" dirty="0"/>
          </a:p>
        </p:txBody>
      </p:sp>
      <p:sp>
        <p:nvSpPr>
          <p:cNvPr id="11" name="Text 7"/>
          <p:cNvSpPr txBox="1"/>
          <p:nvPr/>
        </p:nvSpPr>
        <p:spPr>
          <a:xfrm>
            <a:off x="6263640" y="2996946"/>
            <a:ext cx="228600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rely on surface water (high income: 0.0%)</a:t>
            </a:r>
            <a:endParaRPr lang="en-US" sz="1200" dirty="0"/>
          </a:p>
        </p:txBody>
      </p:sp>
      <p:sp>
        <p:nvSpPr>
          <p:cNvPr id="12" name="Stat card"/>
          <p:cNvSpPr/>
          <p:nvPr/>
        </p:nvSpPr>
        <p:spPr>
          <a:xfrm>
            <a:off x="6126480" y="3566160"/>
            <a:ext cx="2560320" cy="960120"/>
          </a:xfrm>
          <a:prstGeom prst="roundRect">
            <a:avLst>
              <a:gd name="adj" fmla="val 7619"/>
            </a:avLst>
          </a:prstGeom>
          <a:solidFill>
            <a:srgbClr val="F1F6F9"/>
          </a:solidFill>
          <a:ln w="12700">
            <a:solidFill>
              <a:srgbClr val="F1F6F9"/>
            </a:solidFill>
            <a:prstDash val="solid"/>
          </a:ln>
        </p:spPr>
      </p:sp>
      <p:sp>
        <p:nvSpPr>
          <p:cNvPr id="13" name="Text 9"/>
          <p:cNvSpPr txBox="1"/>
          <p:nvPr/>
        </p:nvSpPr>
        <p:spPr>
          <a:xfrm>
            <a:off x="6263640" y="3639312"/>
            <a:ext cx="2286000" cy="480060"/>
          </a:xfrm>
          <a:prstGeom prst="rect">
            <a:avLst/>
          </a:prstGeom>
          <a:noFill/>
          <a:ln/>
        </p:spPr>
        <p:txBody>
          <a:bodyPr wrap="square" lIns="0" tIns="0" rIns="0" bIns="0" rtlCol="0" anchor="ctr"/>
          <a:lstStyle/>
          <a:p>
            <a:pPr marL="0" indent="0">
              <a:buNone/>
            </a:pPr>
            <a:r>
              <a:rPr lang="en-US" sz="2200" b="1" dirty="0">
                <a:solidFill>
                  <a:srgbClr val="1B7F9E"/>
                </a:solidFill>
                <a:latin typeface="Cambria" pitchFamily="34" charset="0"/>
                <a:ea typeface="Cambria" pitchFamily="34" charset="-122"/>
                <a:cs typeface="Cambria" pitchFamily="34" charset="-120"/>
              </a:rPr>
              <a:t>36% vs 79%</a:t>
            </a:r>
            <a:endParaRPr lang="en-US" sz="2200" dirty="0"/>
          </a:p>
        </p:txBody>
      </p:sp>
      <p:sp>
        <p:nvSpPr>
          <p:cNvPr id="14" name="Text 10"/>
          <p:cNvSpPr txBox="1"/>
          <p:nvPr/>
        </p:nvSpPr>
        <p:spPr>
          <a:xfrm>
            <a:off x="6263640" y="4094226"/>
            <a:ext cx="228600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average urban share, low vs high income</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1  |  ACCESS BY INCOME GROUP</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Urbanisation and income together separate the countries</a:t>
            </a:r>
            <a:endParaRPr lang="en-US" sz="2600" dirty="0"/>
          </a:p>
        </p:txBody>
      </p:sp>
      <p:pic>
        <p:nvPicPr>
          <p:cNvPr id="5" name="Image 0" descr="Scatter of basic access against urban share, coloured by income group"/>
          <p:cNvPicPr>
            <a:picLocks noChangeAspect="1"/>
          </p:cNvPicPr>
          <p:nvPr/>
        </p:nvPicPr>
        <p:blipFill>
          <a:blip r:embed="rId3"/>
          <a:stretch>
            <a:fillRect/>
          </a:stretch>
        </p:blipFill>
        <p:spPr>
          <a:xfrm>
            <a:off x="629963" y="1371600"/>
            <a:ext cx="5140874" cy="3291840"/>
          </a:xfrm>
          <a:prstGeom prst="rect">
            <a:avLst/>
          </a:prstGeom>
        </p:spPr>
      </p:pic>
      <p:sp>
        <p:nvSpPr>
          <p:cNvPr id="6" name="Text 2"/>
          <p:cNvSpPr txBox="1"/>
          <p:nvPr/>
        </p:nvSpPr>
        <p:spPr>
          <a:xfrm>
            <a:off x="6217920" y="1371600"/>
            <a:ext cx="2468880" cy="3291840"/>
          </a:xfrm>
          <a:prstGeom prst="rect">
            <a:avLst/>
          </a:prstGeom>
          <a:noFill/>
          <a:ln/>
        </p:spPr>
        <p:txBody>
          <a:bodyPr wrap="square" lIns="0" tIns="0" rIns="0" bIns="0" rtlCol="0" anchor="t"/>
          <a:lstStyle/>
          <a:p>
            <a:pPr marL="0" indent="0">
              <a:spcAft>
                <a:spcPts val="600"/>
              </a:spcAft>
              <a:buNone/>
            </a:pPr>
            <a:r>
              <a:rPr lang="en-US" sz="3000" b="1" dirty="0">
                <a:solidFill>
                  <a:srgbClr val="1B7F9E"/>
                </a:solidFill>
                <a:latin typeface="Cambria" pitchFamily="34" charset="0"/>
                <a:ea typeface="Cambria" pitchFamily="34" charset="-122"/>
                <a:cs typeface="Cambria" pitchFamily="34" charset="-120"/>
              </a:rPr>
              <a:t>r = 0.55</a:t>
            </a:r>
            <a:endParaRPr lang="en-US" sz="3000" dirty="0"/>
          </a:p>
          <a:p>
            <a:pPr marL="0" indent="0">
              <a:spcAft>
                <a:spcPts val="1000"/>
              </a:spcAft>
              <a:buNone/>
            </a:pPr>
            <a:r>
              <a:rPr lang="en-US" sz="1400" dirty="0">
                <a:solidFill>
                  <a:srgbClr val="0B2545"/>
                </a:solidFill>
                <a:latin typeface="Calibri" pitchFamily="34" charset="0"/>
                <a:ea typeface="Calibri" pitchFamily="34" charset="-122"/>
                <a:cs typeface="Calibri" pitchFamily="34" charset="-120"/>
              </a:rPr>
              <a:t>Moderate positive link between urban share and basic access.</a:t>
            </a:r>
            <a:endParaRPr lang="en-US" sz="3000" dirty="0"/>
          </a:p>
          <a:p>
            <a:pPr marL="0" indent="0">
              <a:buNone/>
            </a:pPr>
            <a:r>
              <a:rPr lang="en-US" sz="1400" dirty="0">
                <a:solidFill>
                  <a:srgbClr val="0B2545"/>
                </a:solidFill>
                <a:latin typeface="Calibri" pitchFamily="34" charset="0"/>
                <a:ea typeface="Calibri" pitchFamily="34" charset="-122"/>
                <a:cs typeface="Calibri" pitchFamily="34" charset="-120"/>
              </a:rPr>
              <a:t>56 countries are below 90% basic access and 8 below 50%.</a:t>
            </a:r>
            <a:endParaRPr lang="en-US" sz="3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2  |  YEAR REPRESENTATION</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The </a:t>
            </a:r>
            <a:r>
              <a:rPr lang="en-US" dirty="0"/>
              <a:t>Part two workbook</a:t>
            </a:r>
            <a:r>
              <a:rPr lang="en-US" sz="2600" b="1" dirty="0">
                <a:solidFill>
                  <a:srgbClr val="0B2545"/>
                </a:solidFill>
                <a:latin typeface="Cambria" pitchFamily="34" charset="0"/>
                <a:ea typeface="Cambria" pitchFamily="34" charset="-122"/>
                <a:cs typeface="Cambria" pitchFamily="34" charset="-120"/>
              </a:rPr>
              <a:t> file is really two snapshots: 2015 and 2020</a:t>
            </a:r>
            <a:endParaRPr lang="en-US" sz="2600" dirty="0"/>
          </a:p>
        </p:txBody>
      </p:sp>
      <p:graphicFrame>
        <p:nvGraphicFramePr>
          <p:cNvPr id="5" name="Chart 0"/>
          <p:cNvGraphicFramePr/>
          <p:nvPr/>
        </p:nvGraphicFramePr>
        <p:xfrm>
          <a:off x="457200" y="137160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tat card"/>
          <p:cNvSpPr/>
          <p:nvPr/>
        </p:nvSpPr>
        <p:spPr>
          <a:xfrm>
            <a:off x="5852160" y="1371600"/>
            <a:ext cx="2834640" cy="960120"/>
          </a:xfrm>
          <a:prstGeom prst="roundRect">
            <a:avLst>
              <a:gd name="adj" fmla="val 7619"/>
            </a:avLst>
          </a:prstGeom>
          <a:solidFill>
            <a:srgbClr val="F1F6F9"/>
          </a:solidFill>
          <a:ln w="12700">
            <a:solidFill>
              <a:srgbClr val="F1F6F9"/>
            </a:solidFill>
            <a:prstDash val="solid"/>
          </a:ln>
        </p:spPr>
      </p:sp>
      <p:sp>
        <p:nvSpPr>
          <p:cNvPr id="7" name="Text 3"/>
          <p:cNvSpPr txBox="1"/>
          <p:nvPr/>
        </p:nvSpPr>
        <p:spPr>
          <a:xfrm>
            <a:off x="5989320" y="1444752"/>
            <a:ext cx="2560320" cy="48006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4.8</a:t>
            </a:r>
            <a:endParaRPr lang="en-US" sz="2800" dirty="0"/>
          </a:p>
        </p:txBody>
      </p:sp>
      <p:sp>
        <p:nvSpPr>
          <p:cNvPr id="8" name="Text 4"/>
          <p:cNvSpPr txBox="1"/>
          <p:nvPr/>
        </p:nvSpPr>
        <p:spPr>
          <a:xfrm>
            <a:off x="5989320" y="1899666"/>
            <a:ext cx="256032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average years between a country's two observations (range 1 to 5)</a:t>
            </a:r>
            <a:endParaRPr lang="en-US" sz="1200" dirty="0"/>
          </a:p>
        </p:txBody>
      </p:sp>
      <p:sp>
        <p:nvSpPr>
          <p:cNvPr id="9" name="Stat card"/>
          <p:cNvSpPr/>
          <p:nvPr/>
        </p:nvSpPr>
        <p:spPr>
          <a:xfrm>
            <a:off x="5852160" y="2468880"/>
            <a:ext cx="2834640" cy="960120"/>
          </a:xfrm>
          <a:prstGeom prst="roundRect">
            <a:avLst>
              <a:gd name="adj" fmla="val 7619"/>
            </a:avLst>
          </a:prstGeom>
          <a:solidFill>
            <a:srgbClr val="F1F6F9"/>
          </a:solidFill>
          <a:ln w="12700">
            <a:solidFill>
              <a:srgbClr val="F1F6F9"/>
            </a:solidFill>
            <a:prstDash val="solid"/>
          </a:ln>
        </p:spPr>
      </p:sp>
      <p:sp>
        <p:nvSpPr>
          <p:cNvPr id="10" name="Text 6"/>
          <p:cNvSpPr txBox="1"/>
          <p:nvPr/>
        </p:nvSpPr>
        <p:spPr>
          <a:xfrm>
            <a:off x="5989320" y="2542032"/>
            <a:ext cx="2560320" cy="480060"/>
          </a:xfrm>
          <a:prstGeom prst="rect">
            <a:avLst/>
          </a:prstGeom>
          <a:noFill/>
          <a:ln/>
        </p:spPr>
        <p:txBody>
          <a:bodyPr wrap="square" lIns="0" tIns="0" rIns="0" bIns="0" rtlCol="0" anchor="ctr"/>
          <a:lstStyle/>
          <a:p>
            <a:pPr marL="0" indent="0">
              <a:buNone/>
            </a:pPr>
            <a:r>
              <a:rPr lang="en-US" sz="2400" b="1" dirty="0">
                <a:solidFill>
                  <a:srgbClr val="1B7F9E"/>
                </a:solidFill>
                <a:latin typeface="Cambria" pitchFamily="34" charset="0"/>
                <a:ea typeface="Cambria" pitchFamily="34" charset="-122"/>
                <a:cs typeface="Cambria" pitchFamily="34" charset="-120"/>
              </a:rPr>
              <a:t>213 of 231</a:t>
            </a:r>
            <a:endParaRPr lang="en-US" sz="2400" dirty="0"/>
          </a:p>
        </p:txBody>
      </p:sp>
      <p:sp>
        <p:nvSpPr>
          <p:cNvPr id="11" name="Text 7"/>
          <p:cNvSpPr txBox="1"/>
          <p:nvPr/>
        </p:nvSpPr>
        <p:spPr>
          <a:xfrm>
            <a:off x="5989320" y="2996946"/>
            <a:ext cx="2560320" cy="384048"/>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countries have the full 2015 to 2020 span</a:t>
            </a:r>
            <a:endParaRPr lang="en-US" sz="1200" dirty="0"/>
          </a:p>
        </p:txBody>
      </p:sp>
      <p:sp>
        <p:nvSpPr>
          <p:cNvPr id="12" name="Text 8"/>
          <p:cNvSpPr txBox="1"/>
          <p:nvPr/>
        </p:nvSpPr>
        <p:spPr>
          <a:xfrm>
            <a:off x="5852160" y="3611880"/>
            <a:ext cx="2834640" cy="914400"/>
          </a:xfrm>
          <a:prstGeom prst="rect">
            <a:avLst/>
          </a:prstGeom>
          <a:noFill/>
          <a:ln/>
        </p:spPr>
        <p:txBody>
          <a:bodyPr wrap="square" lIns="0" tIns="0" rIns="0" bIns="0" rtlCol="0" anchor="t"/>
          <a:lstStyle/>
          <a:p>
            <a:pPr marL="0" indent="0">
              <a:buNone/>
            </a:pPr>
            <a:r>
              <a:rPr lang="en-US" sz="1300" dirty="0">
                <a:solidFill>
                  <a:srgbClr val="0B2545"/>
                </a:solidFill>
                <a:latin typeface="Calibri" pitchFamily="34" charset="0"/>
                <a:ea typeface="Calibri" pitchFamily="34" charset="-122"/>
                <a:cs typeface="Calibri" pitchFamily="34" charset="-120"/>
              </a:rPr>
              <a:t>So change is measured per year, which keeps the 18 shorter spans comparable.</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2  |  ANNUAL RATE OF CHANGE</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ARC turns two snapshots into a yearly rate of progress</a:t>
            </a:r>
            <a:endParaRPr lang="en-US" sz="2600" dirty="0"/>
          </a:p>
        </p:txBody>
      </p:sp>
      <p:sp>
        <p:nvSpPr>
          <p:cNvPr id="5" name="Formula card"/>
          <p:cNvSpPr/>
          <p:nvPr/>
        </p:nvSpPr>
        <p:spPr>
          <a:xfrm>
            <a:off x="457200" y="1371600"/>
            <a:ext cx="4297680" cy="1325880"/>
          </a:xfrm>
          <a:prstGeom prst="roundRect">
            <a:avLst>
              <a:gd name="adj" fmla="val 5517"/>
            </a:avLst>
          </a:prstGeom>
          <a:solidFill>
            <a:srgbClr val="0B2545"/>
          </a:solidFill>
          <a:ln w="12700">
            <a:solidFill>
              <a:srgbClr val="0B2545"/>
            </a:solidFill>
            <a:prstDash val="solid"/>
          </a:ln>
        </p:spPr>
      </p:sp>
      <p:sp>
        <p:nvSpPr>
          <p:cNvPr id="6" name="Text 3"/>
          <p:cNvSpPr txBox="1"/>
          <p:nvPr/>
        </p:nvSpPr>
        <p:spPr>
          <a:xfrm>
            <a:off x="640080" y="1417320"/>
            <a:ext cx="4023360" cy="1234440"/>
          </a:xfrm>
          <a:prstGeom prst="rect">
            <a:avLst/>
          </a:prstGeom>
          <a:noFill/>
          <a:ln/>
        </p:spPr>
        <p:txBody>
          <a:bodyPr wrap="square" lIns="0" tIns="0" rIns="0" bIns="0" rtlCol="0" anchor="ctr"/>
          <a:lstStyle/>
          <a:p>
            <a:pPr marL="0" indent="0">
              <a:buNone/>
            </a:pPr>
            <a:r>
              <a:rPr lang="en-US" sz="1300" dirty="0">
                <a:solidFill>
                  <a:srgbClr val="F2B134"/>
                </a:solidFill>
                <a:latin typeface="Courier New" pitchFamily="34" charset="0"/>
                <a:ea typeface="Courier New" pitchFamily="34" charset="-122"/>
                <a:cs typeface="Courier New" pitchFamily="34" charset="-120"/>
              </a:rPr>
              <a:t>ARC_n =</a:t>
            </a:r>
            <a:endParaRPr lang="en-US" sz="1300" dirty="0"/>
          </a:p>
          <a:p>
            <a:pPr marL="0" indent="0">
              <a:buNone/>
            </a:pPr>
            <a:r>
              <a:rPr lang="en-US" sz="1200" dirty="0">
                <a:solidFill>
                  <a:srgbClr val="FFFFFF"/>
                </a:solidFill>
                <a:latin typeface="Courier New" pitchFamily="34" charset="0"/>
                <a:ea typeface="Courier New" pitchFamily="34" charset="-122"/>
                <a:cs typeface="Courier New" pitchFamily="34" charset="-120"/>
              </a:rPr>
              <a:t>IFERROR( IF( $A3=$A2,</a:t>
            </a:r>
            <a:endParaRPr lang="en-US" sz="1300" dirty="0"/>
          </a:p>
          <a:p>
            <a:pPr marL="0" indent="0">
              <a:buNone/>
            </a:pPr>
            <a:r>
              <a:rPr lang="en-US" sz="1200" dirty="0">
                <a:solidFill>
                  <a:srgbClr val="FFFFFF"/>
                </a:solidFill>
                <a:latin typeface="Courier New" pitchFamily="34" charset="0"/>
                <a:ea typeface="Courier New" pitchFamily="34" charset="-122"/>
                <a:cs typeface="Courier New" pitchFamily="34" charset="-120"/>
              </a:rPr>
              <a:t>(E3-E2) / ($B3-$B2), ), "null" )</a:t>
            </a:r>
            <a:endParaRPr lang="en-US" sz="1300" dirty="0"/>
          </a:p>
        </p:txBody>
      </p:sp>
      <p:sp>
        <p:nvSpPr>
          <p:cNvPr id="7" name="Text 4"/>
          <p:cNvSpPr txBox="1"/>
          <p:nvPr/>
        </p:nvSpPr>
        <p:spPr>
          <a:xfrm>
            <a:off x="457200" y="2834640"/>
            <a:ext cx="429768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0B2545"/>
                </a:solidFill>
                <a:latin typeface="Calibri" pitchFamily="34" charset="0"/>
                <a:ea typeface="Calibri" pitchFamily="34" charset="-122"/>
                <a:cs typeface="Calibri" pitchFamily="34" charset="-120"/>
              </a:rPr>
              <a:t>Same-country test stops ARC crossing from one country to the next</a:t>
            </a:r>
            <a:endParaRPr lang="en-US" sz="1300" dirty="0"/>
          </a:p>
          <a:p>
            <a:pPr marL="177800" indent="-177800">
              <a:spcAft>
                <a:spcPts val="500"/>
              </a:spcAft>
              <a:buSzPct val="100000"/>
              <a:buChar char="•"/>
            </a:pPr>
            <a:r>
              <a:rPr lang="en-US" sz="1300" dirty="0">
                <a:solidFill>
                  <a:srgbClr val="0B2545"/>
                </a:solidFill>
                <a:latin typeface="Calibri" pitchFamily="34" charset="0"/>
                <a:ea typeface="Calibri" pitchFamily="34" charset="-122"/>
                <a:cs typeface="Calibri" pitchFamily="34" charset="-120"/>
              </a:rPr>
              <a:t>Mixed references ($A, relative row) copy one formula across n, r, u</a:t>
            </a:r>
            <a:endParaRPr lang="en-US" sz="1300" dirty="0"/>
          </a:p>
          <a:p>
            <a:pPr marL="177800" indent="-177800">
              <a:spcAft>
                <a:spcPts val="500"/>
              </a:spcAft>
              <a:buSzPct val="100000"/>
              <a:buChar char="•"/>
            </a:pPr>
            <a:r>
              <a:rPr lang="en-US" sz="1300" dirty="0">
                <a:solidFill>
                  <a:srgbClr val="0B2545"/>
                </a:solidFill>
                <a:latin typeface="Calibri" pitchFamily="34" charset="0"/>
                <a:ea typeface="Calibri" pitchFamily="34" charset="-122"/>
                <a:cs typeface="Calibri" pitchFamily="34" charset="-120"/>
              </a:rPr>
              <a:t>IFERROR labels missing estimates as null instead of #VALUE!</a:t>
            </a:r>
            <a:endParaRPr lang="en-US" sz="1300" dirty="0"/>
          </a:p>
          <a:p>
            <a:pPr marL="177800" indent="-177800">
              <a:spcAft>
                <a:spcPts val="500"/>
              </a:spcAft>
              <a:buSzPct val="100000"/>
              <a:buChar char="•"/>
            </a:pPr>
            <a:r>
              <a:rPr lang="en-US" sz="1300" dirty="0">
                <a:solidFill>
                  <a:srgbClr val="0B2545"/>
                </a:solidFill>
                <a:latin typeface="Calibri" pitchFamily="34" charset="0"/>
                <a:ea typeface="Calibri" pitchFamily="34" charset="-122"/>
                <a:cs typeface="Calibri" pitchFamily="34" charset="-120"/>
              </a:rPr>
              <a:t>Full access = rounded basic access of 100 in both years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0" y="1371600"/>
          <a:ext cx="3657600" cy="1536192"/>
        </p:xfrm>
        <a:graphic>
          <a:graphicData uri="http://schemas.openxmlformats.org/drawingml/2006/table">
            <a:tbl>
              <a:tblPr/>
              <a:tblGrid>
                <a:gridCol w="11887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8404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ARC (pp/yr)</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Avg</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Min</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Max</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84048">
                <a:tc>
                  <a:txBody>
                    <a:bodyPr/>
                    <a:lstStyle/>
                    <a:p>
                      <a:pPr marL="0" indent="0" algn="l">
                        <a:buNone/>
                      </a:pPr>
                      <a:r>
                        <a:rPr lang="en-US" sz="1300" b="1" dirty="0">
                          <a:solidFill>
                            <a:srgbClr val="0B2545"/>
                          </a:solidFill>
                          <a:latin typeface="Calibri" pitchFamily="34" charset="0"/>
                          <a:ea typeface="Calibri" pitchFamily="34" charset="-122"/>
                          <a:cs typeface="Calibri" pitchFamily="34" charset="-120"/>
                        </a:rPr>
                        <a:t>National</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0.28</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-1.02</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2.75</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0B2545"/>
                          </a:solidFill>
                          <a:latin typeface="Calibri" pitchFamily="34" charset="0"/>
                          <a:ea typeface="Calibri" pitchFamily="34" charset="-122"/>
                          <a:cs typeface="Calibri" pitchFamily="34" charset="-120"/>
                        </a:rPr>
                        <a:t>Rural</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0.48</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-1.23</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2.67</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rgbClr val="0B2545"/>
                          </a:solidFill>
                          <a:latin typeface="Calibri" pitchFamily="34" charset="0"/>
                          <a:ea typeface="Calibri" pitchFamily="34" charset="-122"/>
                          <a:cs typeface="Calibri" pitchFamily="34" charset="-120"/>
                        </a:rPr>
                        <a:t>Urban</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0.15</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-1.62</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lgn="ctr">
                        <a:buNone/>
                      </a:pPr>
                      <a:r>
                        <a:rPr lang="en-US" sz="1300" dirty="0">
                          <a:solidFill>
                            <a:srgbClr val="0B2545"/>
                          </a:solidFill>
                          <a:latin typeface="Calibri" pitchFamily="34" charset="0"/>
                          <a:ea typeface="Calibri" pitchFamily="34" charset="-122"/>
                          <a:cs typeface="Calibri" pitchFamily="34" charset="-120"/>
                        </a:rPr>
                        <a:t>2.67</a:t>
                      </a:r>
                      <a:endParaRPr lang="en-US" sz="1300" dirty="0">
                        <a:latin typeface="Calibri" charset="0"/>
                        <a:ea typeface="Calibri" charset="0"/>
                        <a:cs typeface="Calibri" charset="0"/>
                      </a:endParaRPr>
                    </a:p>
                  </a:txBody>
                  <a:tcPr marL="73152" marR="73152" marT="36576" marB="36576">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3"/>
                  </a:ext>
                </a:extLst>
              </a:tr>
            </a:tbl>
          </a:graphicData>
        </a:graphic>
      </p:graphicFrame>
      <p:sp>
        <p:nvSpPr>
          <p:cNvPr id="9" name="Stat card"/>
          <p:cNvSpPr/>
          <p:nvPr/>
        </p:nvSpPr>
        <p:spPr>
          <a:xfrm>
            <a:off x="5029200" y="3108960"/>
            <a:ext cx="3657600" cy="1463040"/>
          </a:xfrm>
          <a:prstGeom prst="roundRect">
            <a:avLst>
              <a:gd name="adj" fmla="val 5000"/>
            </a:avLst>
          </a:prstGeom>
          <a:solidFill>
            <a:srgbClr val="F1F6F9"/>
          </a:solidFill>
          <a:ln w="12700">
            <a:solidFill>
              <a:srgbClr val="F1F6F9"/>
            </a:solidFill>
            <a:prstDash val="solid"/>
          </a:ln>
        </p:spPr>
      </p:sp>
      <p:sp>
        <p:nvSpPr>
          <p:cNvPr id="10" name="Text 6"/>
          <p:cNvSpPr txBox="1"/>
          <p:nvPr/>
        </p:nvSpPr>
        <p:spPr>
          <a:xfrm>
            <a:off x="5166360" y="3182112"/>
            <a:ext cx="3383280" cy="731520"/>
          </a:xfrm>
          <a:prstGeom prst="rect">
            <a:avLst/>
          </a:prstGeom>
          <a:noFill/>
          <a:ln/>
        </p:spPr>
        <p:txBody>
          <a:bodyPr wrap="square" lIns="0" tIns="0" rIns="0" bIns="0" rtlCol="0" anchor="ctr"/>
          <a:lstStyle/>
          <a:p>
            <a:pPr marL="0" indent="0">
              <a:buNone/>
            </a:pPr>
            <a:r>
              <a:rPr lang="en-US" sz="2800" b="1" dirty="0">
                <a:solidFill>
                  <a:srgbClr val="E07A3F"/>
                </a:solidFill>
                <a:latin typeface="Cambria" pitchFamily="34" charset="0"/>
                <a:ea typeface="Cambria" pitchFamily="34" charset="-122"/>
                <a:cs typeface="Cambria" pitchFamily="34" charset="-120"/>
              </a:rPr>
              <a:t>0.48 vs 0.15</a:t>
            </a:r>
            <a:endParaRPr lang="en-US" sz="2800" dirty="0"/>
          </a:p>
        </p:txBody>
      </p:sp>
      <p:sp>
        <p:nvSpPr>
          <p:cNvPr id="11" name="Text 7"/>
          <p:cNvSpPr txBox="1"/>
          <p:nvPr/>
        </p:nvSpPr>
        <p:spPr>
          <a:xfrm>
            <a:off x="5166360" y="3913632"/>
            <a:ext cx="3383280" cy="585216"/>
          </a:xfrm>
          <a:prstGeom prst="rect">
            <a:avLst/>
          </a:prstGeom>
          <a:noFill/>
          <a:ln/>
        </p:spPr>
        <p:txBody>
          <a:bodyPr wrap="square" lIns="0" tIns="0" rIns="0" bIns="0" rtlCol="0" anchor="t"/>
          <a:lstStyle/>
          <a:p>
            <a:pPr marL="0" indent="0">
              <a:buNone/>
            </a:pPr>
            <a:r>
              <a:rPr lang="en-US" sz="1300" dirty="0">
                <a:solidFill>
                  <a:srgbClr val="0B2545"/>
                </a:solidFill>
                <a:latin typeface="Calibri" pitchFamily="34" charset="0"/>
                <a:ea typeface="Calibri" pitchFamily="34" charset="-122"/>
                <a:cs typeface="Calibri" pitchFamily="34" charset="-120"/>
              </a:rPr>
              <a:t>rural vs urban average ARC: rural access gained faster, from a lower start</a:t>
            </a:r>
            <a:endParaRPr lang="en-US" sz="13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2  |  DIRECTION OF CHANGE</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Access improved in 135 of 231 countries, but rural gaps in the data limit the story</a:t>
            </a:r>
            <a:endParaRPr lang="en-US" sz="2600" dirty="0"/>
          </a:p>
        </p:txBody>
      </p:sp>
      <p:graphicFrame>
        <p:nvGraphicFramePr>
          <p:cNvPr id="5" name="Chart 0"/>
          <p:cNvGraphicFramePr/>
          <p:nvPr/>
        </p:nvGraphicFramePr>
        <p:xfrm>
          <a:off x="457200" y="1371600"/>
          <a:ext cx="5486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tat card"/>
          <p:cNvSpPr/>
          <p:nvPr/>
        </p:nvSpPr>
        <p:spPr>
          <a:xfrm>
            <a:off x="6217920" y="1371600"/>
            <a:ext cx="2468880" cy="960120"/>
          </a:xfrm>
          <a:prstGeom prst="roundRect">
            <a:avLst>
              <a:gd name="adj" fmla="val 7619"/>
            </a:avLst>
          </a:prstGeom>
          <a:solidFill>
            <a:srgbClr val="F1F6F9"/>
          </a:solidFill>
          <a:ln w="12700">
            <a:solidFill>
              <a:srgbClr val="F1F6F9"/>
            </a:solidFill>
            <a:prstDash val="solid"/>
          </a:ln>
        </p:spPr>
      </p:sp>
      <p:sp>
        <p:nvSpPr>
          <p:cNvPr id="7" name="Text 3"/>
          <p:cNvSpPr txBox="1"/>
          <p:nvPr/>
        </p:nvSpPr>
        <p:spPr>
          <a:xfrm>
            <a:off x="6355080" y="1444752"/>
            <a:ext cx="2194560" cy="480060"/>
          </a:xfrm>
          <a:prstGeom prst="rect">
            <a:avLst/>
          </a:prstGeom>
          <a:noFill/>
          <a:ln/>
        </p:spPr>
        <p:txBody>
          <a:bodyPr wrap="square" lIns="0" tIns="0" rIns="0" bIns="0" rtlCol="0" anchor="ctr"/>
          <a:lstStyle/>
          <a:p>
            <a:pPr marL="0" indent="0">
              <a:buNone/>
            </a:pPr>
            <a:r>
              <a:rPr lang="en-US" sz="2200" b="1" dirty="0">
                <a:solidFill>
                  <a:srgbClr val="1B7F9E"/>
                </a:solidFill>
                <a:latin typeface="Cambria" pitchFamily="34" charset="0"/>
                <a:ea typeface="Cambria" pitchFamily="34" charset="-122"/>
                <a:cs typeface="Cambria" pitchFamily="34" charset="-120"/>
              </a:rPr>
              <a:t>135 / 16 / 16</a:t>
            </a:r>
            <a:endParaRPr lang="en-US" sz="2200" dirty="0"/>
          </a:p>
        </p:txBody>
      </p:sp>
      <p:sp>
        <p:nvSpPr>
          <p:cNvPr id="8" name="Text 4"/>
          <p:cNvSpPr txBox="1"/>
          <p:nvPr/>
        </p:nvSpPr>
        <p:spPr>
          <a:xfrm>
            <a:off x="6355080" y="1899666"/>
            <a:ext cx="2194560" cy="384048"/>
          </a:xfrm>
          <a:prstGeom prst="rect">
            <a:avLst/>
          </a:prstGeom>
          <a:noFill/>
          <a:ln/>
        </p:spPr>
        <p:txBody>
          <a:bodyPr wrap="square" lIns="0" tIns="0" rIns="0" bIns="0" rtlCol="0" anchor="t"/>
          <a:lstStyle/>
          <a:p>
            <a:pPr marL="0" indent="0">
              <a:buNone/>
            </a:pPr>
            <a:r>
              <a:rPr lang="en-US" sz="1100" dirty="0">
                <a:solidFill>
                  <a:srgbClr val="0B2545"/>
                </a:solidFill>
                <a:latin typeface="Calibri" pitchFamily="34" charset="0"/>
                <a:ea typeface="Calibri" pitchFamily="34" charset="-122"/>
                <a:cs typeface="Calibri" pitchFamily="34" charset="-120"/>
              </a:rPr>
              <a:t>countries improving, stalled, declining nationally (not full access)</a:t>
            </a:r>
            <a:endParaRPr lang="en-US" sz="1100" dirty="0"/>
          </a:p>
        </p:txBody>
      </p:sp>
      <p:sp>
        <p:nvSpPr>
          <p:cNvPr id="9" name="Stat card"/>
          <p:cNvSpPr/>
          <p:nvPr/>
        </p:nvSpPr>
        <p:spPr>
          <a:xfrm>
            <a:off x="6217920" y="2468880"/>
            <a:ext cx="2468880" cy="960120"/>
          </a:xfrm>
          <a:prstGeom prst="roundRect">
            <a:avLst>
              <a:gd name="adj" fmla="val 7619"/>
            </a:avLst>
          </a:prstGeom>
          <a:solidFill>
            <a:srgbClr val="F1F6F9"/>
          </a:solidFill>
          <a:ln w="12700">
            <a:solidFill>
              <a:srgbClr val="F1F6F9"/>
            </a:solidFill>
            <a:prstDash val="solid"/>
          </a:ln>
        </p:spPr>
      </p:sp>
      <p:sp>
        <p:nvSpPr>
          <p:cNvPr id="10" name="Text 6"/>
          <p:cNvSpPr txBox="1"/>
          <p:nvPr/>
        </p:nvSpPr>
        <p:spPr>
          <a:xfrm>
            <a:off x="6355080" y="2542032"/>
            <a:ext cx="2194560" cy="480060"/>
          </a:xfrm>
          <a:prstGeom prst="rect">
            <a:avLst/>
          </a:prstGeom>
          <a:noFill/>
          <a:ln/>
        </p:spPr>
        <p:txBody>
          <a:bodyPr wrap="square" lIns="0" tIns="0" rIns="0" bIns="0" rtlCol="0" anchor="ctr"/>
          <a:lstStyle/>
          <a:p>
            <a:pPr marL="0" indent="0">
              <a:buNone/>
            </a:pPr>
            <a:r>
              <a:rPr lang="en-US" sz="2400" b="1" dirty="0">
                <a:solidFill>
                  <a:srgbClr val="E07A3F"/>
                </a:solidFill>
                <a:latin typeface="Cambria" pitchFamily="34" charset="0"/>
                <a:ea typeface="Cambria" pitchFamily="34" charset="-122"/>
                <a:cs typeface="Cambria" pitchFamily="34" charset="-120"/>
              </a:rPr>
              <a:t>64 and 50</a:t>
            </a:r>
            <a:endParaRPr lang="en-US" sz="2400" dirty="0"/>
          </a:p>
        </p:txBody>
      </p:sp>
      <p:sp>
        <p:nvSpPr>
          <p:cNvPr id="11" name="Text 7"/>
          <p:cNvSpPr txBox="1"/>
          <p:nvPr/>
        </p:nvSpPr>
        <p:spPr>
          <a:xfrm>
            <a:off x="6355080" y="2996946"/>
            <a:ext cx="2194560" cy="384048"/>
          </a:xfrm>
          <a:prstGeom prst="rect">
            <a:avLst/>
          </a:prstGeom>
          <a:noFill/>
          <a:ln/>
        </p:spPr>
        <p:txBody>
          <a:bodyPr wrap="square" lIns="0" tIns="0" rIns="0" bIns="0" rtlCol="0" anchor="t"/>
          <a:lstStyle/>
          <a:p>
            <a:pPr marL="0" indent="0">
              <a:buNone/>
            </a:pPr>
            <a:r>
              <a:rPr lang="en-US" sz="1100" dirty="0">
                <a:solidFill>
                  <a:srgbClr val="0B2545"/>
                </a:solidFill>
                <a:latin typeface="Calibri" pitchFamily="34" charset="0"/>
                <a:ea typeface="Calibri" pitchFamily="34" charset="-122"/>
                <a:cs typeface="Calibri" pitchFamily="34" charset="-120"/>
              </a:rPr>
              <a:t>countries with no rural or urban ARC because an estimate is missing</a:t>
            </a:r>
            <a:endParaRPr lang="en-US" sz="1100" dirty="0"/>
          </a:p>
        </p:txBody>
      </p:sp>
      <p:sp>
        <p:nvSpPr>
          <p:cNvPr id="12" name="Text 8"/>
          <p:cNvSpPr txBox="1"/>
          <p:nvPr/>
        </p:nvSpPr>
        <p:spPr>
          <a:xfrm>
            <a:off x="6217920" y="3566160"/>
            <a:ext cx="2468880" cy="1097280"/>
          </a:xfrm>
          <a:prstGeom prst="rect">
            <a:avLst/>
          </a:prstGeom>
          <a:noFill/>
          <a:ln/>
        </p:spPr>
        <p:txBody>
          <a:bodyPr wrap="square" lIns="0" tIns="0" rIns="0" bIns="0" rtlCol="0" anchor="t"/>
          <a:lstStyle/>
          <a:p>
            <a:pPr marL="0" indent="0">
              <a:buNone/>
            </a:pPr>
            <a:r>
              <a:rPr lang="en-US" sz="1200" i="1" dirty="0">
                <a:solidFill>
                  <a:srgbClr val="5B6B7B"/>
                </a:solidFill>
                <a:latin typeface="Calibri" pitchFamily="34" charset="0"/>
                <a:ea typeface="Calibri" pitchFamily="34" charset="-122"/>
                <a:cs typeface="Calibri" pitchFamily="34" charset="-120"/>
              </a:rPr>
              <a:t>Rural average ARC (0.48) beats urban (0.15) partly because urban areas start closer to 100%.</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2  |  RURAL VS URBAN</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Rural access grew faster than urban in two out of three countries</a:t>
            </a:r>
            <a:endParaRPr lang="en-US" sz="2600" dirty="0"/>
          </a:p>
        </p:txBody>
      </p:sp>
      <p:pic>
        <p:nvPicPr>
          <p:cNvPr id="5" name="Image 0" descr="Histogram of the rural minus urban ARC difference"/>
          <p:cNvPicPr>
            <a:picLocks noChangeAspect="1"/>
          </p:cNvPicPr>
          <p:nvPr/>
        </p:nvPicPr>
        <p:blipFill>
          <a:blip r:embed="rId3"/>
          <a:stretch>
            <a:fillRect/>
          </a:stretch>
        </p:blipFill>
        <p:spPr>
          <a:xfrm>
            <a:off x="457200" y="1412940"/>
            <a:ext cx="5303520" cy="3209160"/>
          </a:xfrm>
          <a:prstGeom prst="rect">
            <a:avLst/>
          </a:prstGeom>
        </p:spPr>
      </p:pic>
      <p:sp>
        <p:nvSpPr>
          <p:cNvPr id="6" name="Stat card"/>
          <p:cNvSpPr/>
          <p:nvPr/>
        </p:nvSpPr>
        <p:spPr>
          <a:xfrm>
            <a:off x="6035040" y="1371600"/>
            <a:ext cx="2651760" cy="1097280"/>
          </a:xfrm>
          <a:prstGeom prst="roundRect">
            <a:avLst>
              <a:gd name="adj" fmla="val 6667"/>
            </a:avLst>
          </a:prstGeom>
          <a:solidFill>
            <a:srgbClr val="F1F6F9"/>
          </a:solidFill>
          <a:ln w="12700">
            <a:solidFill>
              <a:srgbClr val="F1F6F9"/>
            </a:solidFill>
            <a:prstDash val="solid"/>
          </a:ln>
        </p:spPr>
      </p:sp>
      <p:sp>
        <p:nvSpPr>
          <p:cNvPr id="7" name="Text 3"/>
          <p:cNvSpPr txBox="1"/>
          <p:nvPr/>
        </p:nvSpPr>
        <p:spPr>
          <a:xfrm>
            <a:off x="6172200" y="1444752"/>
            <a:ext cx="2377440" cy="548640"/>
          </a:xfrm>
          <a:prstGeom prst="rect">
            <a:avLst/>
          </a:prstGeom>
          <a:noFill/>
          <a:ln/>
        </p:spPr>
        <p:txBody>
          <a:bodyPr wrap="square" lIns="0" tIns="0" rIns="0" bIns="0" rtlCol="0" anchor="ctr"/>
          <a:lstStyle/>
          <a:p>
            <a:pPr marL="0" indent="0">
              <a:buNone/>
            </a:pPr>
            <a:r>
              <a:rPr lang="en-US" sz="2800" b="1" dirty="0">
                <a:solidFill>
                  <a:srgbClr val="1B7F9E"/>
                </a:solidFill>
                <a:latin typeface="Cambria" pitchFamily="34" charset="0"/>
                <a:ea typeface="Cambria" pitchFamily="34" charset="-122"/>
                <a:cs typeface="Cambria" pitchFamily="34" charset="-120"/>
              </a:rPr>
              <a:t>68%</a:t>
            </a:r>
            <a:endParaRPr lang="en-US" sz="2800" dirty="0"/>
          </a:p>
        </p:txBody>
      </p:sp>
      <p:sp>
        <p:nvSpPr>
          <p:cNvPr id="8" name="Text 4"/>
          <p:cNvSpPr txBox="1"/>
          <p:nvPr/>
        </p:nvSpPr>
        <p:spPr>
          <a:xfrm>
            <a:off x="6172200" y="1975104"/>
            <a:ext cx="2377440" cy="438912"/>
          </a:xfrm>
          <a:prstGeom prst="rect">
            <a:avLst/>
          </a:prstGeom>
          <a:noFill/>
          <a:ln/>
        </p:spPr>
        <p:txBody>
          <a:bodyPr wrap="square" lIns="0" tIns="0" rIns="0" bIns="0" rtlCol="0" anchor="t"/>
          <a:lstStyle/>
          <a:p>
            <a:pPr marL="0" indent="0">
              <a:buNone/>
            </a:pPr>
            <a:r>
              <a:rPr lang="en-US" sz="1200" dirty="0">
                <a:solidFill>
                  <a:srgbClr val="0B2545"/>
                </a:solidFill>
                <a:latin typeface="Calibri" pitchFamily="34" charset="0"/>
                <a:ea typeface="Calibri" pitchFamily="34" charset="-122"/>
                <a:cs typeface="Calibri" pitchFamily="34" charset="-120"/>
              </a:rPr>
              <a:t>of 165 countries: rural ARC above urban (median gap 0.21 pp/yr)</a:t>
            </a:r>
            <a:endParaRPr lang="en-US" sz="1200" dirty="0"/>
          </a:p>
        </p:txBody>
      </p:sp>
      <p:sp>
        <p:nvSpPr>
          <p:cNvPr id="9" name="Text 5"/>
          <p:cNvSpPr txBox="1"/>
          <p:nvPr/>
        </p:nvSpPr>
        <p:spPr>
          <a:xfrm>
            <a:off x="6035040" y="2651760"/>
            <a:ext cx="2651760" cy="2011680"/>
          </a:xfrm>
          <a:prstGeom prst="rect">
            <a:avLst/>
          </a:prstGeom>
          <a:noFill/>
          <a:ln/>
        </p:spPr>
        <p:txBody>
          <a:bodyPr wrap="square" lIns="0" tIns="0" rIns="0" bIns="0" rtlCol="0" anchor="t"/>
          <a:lstStyle/>
          <a:p>
            <a:pPr marL="0" indent="0">
              <a:spcAft>
                <a:spcPts val="400"/>
              </a:spcAft>
              <a:buNone/>
            </a:pPr>
            <a:r>
              <a:rPr lang="en-US" sz="1400" b="1" dirty="0">
                <a:solidFill>
                  <a:srgbClr val="0B2545"/>
                </a:solidFill>
                <a:latin typeface="Calibri" pitchFamily="34" charset="0"/>
                <a:ea typeface="Calibri" pitchFamily="34" charset="-122"/>
                <a:cs typeface="Calibri" pitchFamily="34" charset="-120"/>
              </a:rPr>
              <a:t>Largest gaps</a:t>
            </a:r>
            <a:endParaRPr lang="en-US" sz="1400" dirty="0"/>
          </a:p>
          <a:p>
            <a:pPr marL="0" indent="0">
              <a:spcAft>
                <a:spcPts val="400"/>
              </a:spcAft>
              <a:buNone/>
            </a:pPr>
            <a:r>
              <a:rPr lang="en-US" sz="1300" dirty="0">
                <a:solidFill>
                  <a:srgbClr val="0B2545"/>
                </a:solidFill>
                <a:latin typeface="Calibri" pitchFamily="34" charset="0"/>
                <a:ea typeface="Calibri" pitchFamily="34" charset="-122"/>
                <a:cs typeface="Calibri" pitchFamily="34" charset="-120"/>
              </a:rPr>
              <a:t>Morocco: rural +2.63 vs urban +0.31</a:t>
            </a:r>
            <a:endParaRPr lang="en-US" sz="1400" dirty="0"/>
          </a:p>
          <a:p>
            <a:pPr marL="0" indent="0">
              <a:spcAft>
                <a:spcPts val="400"/>
              </a:spcAft>
              <a:buNone/>
            </a:pPr>
            <a:r>
              <a:rPr lang="en-US" sz="1300" dirty="0">
                <a:solidFill>
                  <a:srgbClr val="0B2545"/>
                </a:solidFill>
                <a:latin typeface="Calibri" pitchFamily="34" charset="0"/>
                <a:ea typeface="Calibri" pitchFamily="34" charset="-122"/>
                <a:cs typeface="Calibri" pitchFamily="34" charset="-120"/>
              </a:rPr>
              <a:t>South Sudan: rural -0.63 vs urban +1.86</a:t>
            </a:r>
            <a:endParaRPr lang="en-US" sz="1400" dirty="0"/>
          </a:p>
          <a:p>
            <a:pPr marL="0" indent="0">
              <a:buNone/>
            </a:pPr>
            <a:r>
              <a:rPr lang="en-US" sz="1100" dirty="0">
                <a:solidFill>
                  <a:srgbClr val="5B6B7B"/>
                </a:solidFill>
                <a:latin typeface="Calibri" pitchFamily="34" charset="0"/>
                <a:ea typeface="Calibri" pitchFamily="34" charset="-122"/>
                <a:cs typeface="Calibri" pitchFamily="34" charset="-120"/>
              </a:rPr>
              <a:t>(pp per year)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2  |  ACCESS BY REGION</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Sub-Saharan Africa is improving fastest, from the lowest base</a:t>
            </a:r>
            <a:endParaRPr lang="en-US" sz="2600" dirty="0"/>
          </a:p>
        </p:txBody>
      </p:sp>
      <p:graphicFrame>
        <p:nvGraphicFramePr>
          <p:cNvPr id="5" name="Chart 0"/>
          <p:cNvGraphicFramePr/>
          <p:nvPr/>
        </p:nvGraphicFramePr>
        <p:xfrm>
          <a:off x="457200" y="1325880"/>
          <a:ext cx="54864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tat card"/>
          <p:cNvSpPr/>
          <p:nvPr/>
        </p:nvSpPr>
        <p:spPr>
          <a:xfrm>
            <a:off x="6217920" y="1371600"/>
            <a:ext cx="2468880" cy="960120"/>
          </a:xfrm>
          <a:prstGeom prst="roundRect">
            <a:avLst>
              <a:gd name="adj" fmla="val 7619"/>
            </a:avLst>
          </a:prstGeom>
          <a:solidFill>
            <a:srgbClr val="F1F6F9"/>
          </a:solidFill>
          <a:ln w="12700">
            <a:solidFill>
              <a:srgbClr val="F1F6F9"/>
            </a:solidFill>
            <a:prstDash val="solid"/>
          </a:ln>
        </p:spPr>
      </p:sp>
      <p:sp>
        <p:nvSpPr>
          <p:cNvPr id="7" name="Text 3"/>
          <p:cNvSpPr txBox="1"/>
          <p:nvPr/>
        </p:nvSpPr>
        <p:spPr>
          <a:xfrm>
            <a:off x="6355080" y="1444752"/>
            <a:ext cx="2194560" cy="480060"/>
          </a:xfrm>
          <a:prstGeom prst="rect">
            <a:avLst/>
          </a:prstGeom>
          <a:noFill/>
          <a:ln/>
        </p:spPr>
        <p:txBody>
          <a:bodyPr wrap="square" lIns="0" tIns="0" rIns="0" bIns="0" rtlCol="0" anchor="ctr"/>
          <a:lstStyle/>
          <a:p>
            <a:pPr marL="0" indent="0">
              <a:buNone/>
            </a:pPr>
            <a:r>
              <a:rPr lang="en-US" sz="2800" b="1" dirty="0">
                <a:solidFill>
                  <a:srgbClr val="B83227"/>
                </a:solidFill>
                <a:latin typeface="Cambria" pitchFamily="34" charset="0"/>
                <a:ea typeface="Cambria" pitchFamily="34" charset="-122"/>
                <a:cs typeface="Cambria" pitchFamily="34" charset="-120"/>
              </a:rPr>
              <a:t>0.56</a:t>
            </a:r>
            <a:endParaRPr lang="en-US" sz="2800" dirty="0"/>
          </a:p>
        </p:txBody>
      </p:sp>
      <p:sp>
        <p:nvSpPr>
          <p:cNvPr id="8" name="Text 4"/>
          <p:cNvSpPr txBox="1"/>
          <p:nvPr/>
        </p:nvSpPr>
        <p:spPr>
          <a:xfrm>
            <a:off x="6355080" y="1899666"/>
            <a:ext cx="2194560" cy="384048"/>
          </a:xfrm>
          <a:prstGeom prst="rect">
            <a:avLst/>
          </a:prstGeom>
          <a:noFill/>
          <a:ln/>
        </p:spPr>
        <p:txBody>
          <a:bodyPr wrap="square" lIns="0" tIns="0" rIns="0" bIns="0" rtlCol="0" anchor="t"/>
          <a:lstStyle/>
          <a:p>
            <a:pPr marL="0" indent="0">
              <a:buNone/>
            </a:pPr>
            <a:r>
              <a:rPr lang="en-US" sz="1100" dirty="0">
                <a:solidFill>
                  <a:srgbClr val="0B2545"/>
                </a:solidFill>
                <a:latin typeface="Calibri" pitchFamily="34" charset="0"/>
                <a:ea typeface="Calibri" pitchFamily="34" charset="-122"/>
                <a:cs typeface="Calibri" pitchFamily="34" charset="-120"/>
              </a:rPr>
              <a:t>pp a year: highest national ARC, in Sub-Saharan Africa</a:t>
            </a:r>
            <a:endParaRPr lang="en-US" sz="1100" dirty="0"/>
          </a:p>
        </p:txBody>
      </p:sp>
      <p:sp>
        <p:nvSpPr>
          <p:cNvPr id="9" name="Stat card"/>
          <p:cNvSpPr/>
          <p:nvPr/>
        </p:nvSpPr>
        <p:spPr>
          <a:xfrm>
            <a:off x="6217920" y="2468880"/>
            <a:ext cx="2468880" cy="960120"/>
          </a:xfrm>
          <a:prstGeom prst="roundRect">
            <a:avLst>
              <a:gd name="adj" fmla="val 7619"/>
            </a:avLst>
          </a:prstGeom>
          <a:solidFill>
            <a:srgbClr val="F1F6F9"/>
          </a:solidFill>
          <a:ln w="12700">
            <a:solidFill>
              <a:srgbClr val="F1F6F9"/>
            </a:solidFill>
            <a:prstDash val="solid"/>
          </a:ln>
        </p:spPr>
      </p:sp>
      <p:sp>
        <p:nvSpPr>
          <p:cNvPr id="10" name="Text 6"/>
          <p:cNvSpPr txBox="1"/>
          <p:nvPr/>
        </p:nvSpPr>
        <p:spPr>
          <a:xfrm>
            <a:off x="6355080" y="2542032"/>
            <a:ext cx="2194560" cy="480060"/>
          </a:xfrm>
          <a:prstGeom prst="rect">
            <a:avLst/>
          </a:prstGeom>
          <a:noFill/>
          <a:ln/>
        </p:spPr>
        <p:txBody>
          <a:bodyPr wrap="square" lIns="0" tIns="0" rIns="0" bIns="0" rtlCol="0" anchor="ctr"/>
          <a:lstStyle/>
          <a:p>
            <a:pPr marL="0" indent="0">
              <a:buNone/>
            </a:pPr>
            <a:r>
              <a:rPr lang="en-US" sz="2400" b="1" dirty="0">
                <a:solidFill>
                  <a:srgbClr val="0B2545"/>
                </a:solidFill>
                <a:latin typeface="Cambria" pitchFamily="34" charset="0"/>
                <a:ea typeface="Cambria" pitchFamily="34" charset="-122"/>
                <a:cs typeface="Cambria" pitchFamily="34" charset="-120"/>
              </a:rPr>
              <a:t>37 of 44</a:t>
            </a:r>
            <a:endParaRPr lang="en-US" sz="2400" dirty="0"/>
          </a:p>
        </p:txBody>
      </p:sp>
      <p:sp>
        <p:nvSpPr>
          <p:cNvPr id="11" name="Text 7"/>
          <p:cNvSpPr txBox="1"/>
          <p:nvPr/>
        </p:nvSpPr>
        <p:spPr>
          <a:xfrm>
            <a:off x="6355080" y="2996946"/>
            <a:ext cx="2194560" cy="384048"/>
          </a:xfrm>
          <a:prstGeom prst="rect">
            <a:avLst/>
          </a:prstGeom>
          <a:noFill/>
          <a:ln/>
        </p:spPr>
        <p:txBody>
          <a:bodyPr wrap="square" lIns="0" tIns="0" rIns="0" bIns="0" rtlCol="0" anchor="t"/>
          <a:lstStyle/>
          <a:p>
            <a:pPr marL="0" indent="0">
              <a:buNone/>
            </a:pPr>
            <a:r>
              <a:rPr lang="en-US" sz="1100" dirty="0">
                <a:solidFill>
                  <a:srgbClr val="0B2545"/>
                </a:solidFill>
                <a:latin typeface="Calibri" pitchFamily="34" charset="0"/>
                <a:ea typeface="Calibri" pitchFamily="34" charset="-122"/>
                <a:cs typeface="Calibri" pitchFamily="34" charset="-120"/>
              </a:rPr>
              <a:t>countries below 80% basic access are in Sub-Saharan Africa</a:t>
            </a:r>
            <a:endParaRPr lang="en-US" sz="1100" dirty="0"/>
          </a:p>
        </p:txBody>
      </p:sp>
      <p:sp>
        <p:nvSpPr>
          <p:cNvPr id="12" name="Text 8"/>
          <p:cNvSpPr txBox="1"/>
          <p:nvPr/>
        </p:nvSpPr>
        <p:spPr>
          <a:xfrm>
            <a:off x="6217920" y="3611880"/>
            <a:ext cx="2468880" cy="1005840"/>
          </a:xfrm>
          <a:prstGeom prst="rect">
            <a:avLst/>
          </a:prstGeom>
          <a:noFill/>
          <a:ln/>
        </p:spPr>
        <p:txBody>
          <a:bodyPr wrap="square" lIns="0" tIns="0" rIns="0" bIns="0" rtlCol="0" anchor="t"/>
          <a:lstStyle/>
          <a:p>
            <a:pPr marL="0" indent="0">
              <a:buNone/>
            </a:pPr>
            <a:r>
              <a:rPr lang="en-US" sz="1200" i="1" dirty="0">
                <a:solidFill>
                  <a:srgbClr val="5B6B7B"/>
                </a:solidFill>
                <a:latin typeface="Calibri" pitchFamily="34" charset="0"/>
                <a:ea typeface="Calibri" pitchFamily="34" charset="-122"/>
                <a:cs typeface="Calibri" pitchFamily="34" charset="-120"/>
              </a:rPr>
              <a:t>Europe and North America move slowly because most countries are already near 100%.</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PART 2  |  ACCESS BY REGION</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Sub-Saharan Africa has the widest range of national ARC</a:t>
            </a:r>
            <a:endParaRPr lang="en-US" sz="2600" dirty="0"/>
          </a:p>
        </p:txBody>
      </p:sp>
      <p:pic>
        <p:nvPicPr>
          <p:cNvPr id="5" name="Image 0" descr="Bubble chart of national ARC against rural ARC by region"/>
          <p:cNvPicPr>
            <a:picLocks noChangeAspect="1"/>
          </p:cNvPicPr>
          <p:nvPr/>
        </p:nvPicPr>
        <p:blipFill>
          <a:blip r:embed="rId3"/>
          <a:stretch>
            <a:fillRect/>
          </a:stretch>
        </p:blipFill>
        <p:spPr>
          <a:xfrm>
            <a:off x="606388" y="1371600"/>
            <a:ext cx="5462344" cy="3337560"/>
          </a:xfrm>
          <a:prstGeom prst="rect">
            <a:avLst/>
          </a:prstGeom>
        </p:spPr>
      </p:pic>
      <p:sp>
        <p:nvSpPr>
          <p:cNvPr id="6" name="Text 2"/>
          <p:cNvSpPr txBox="1"/>
          <p:nvPr/>
        </p:nvSpPr>
        <p:spPr>
          <a:xfrm>
            <a:off x="6400800" y="1371600"/>
            <a:ext cx="2286000" cy="3291840"/>
          </a:xfrm>
          <a:prstGeom prst="rect">
            <a:avLst/>
          </a:prstGeom>
          <a:noFill/>
          <a:ln/>
        </p:spPr>
        <p:txBody>
          <a:bodyPr wrap="square" lIns="0" tIns="0" rIns="0" bIns="0" rtlCol="0" anchor="t"/>
          <a:lstStyle/>
          <a:p>
            <a:pPr marL="0" indent="0">
              <a:spcAft>
                <a:spcPts val="600"/>
              </a:spcAft>
              <a:buNone/>
            </a:pPr>
            <a:r>
              <a:rPr lang="en-US" sz="1400" b="1" dirty="0">
                <a:solidFill>
                  <a:srgbClr val="0B2545"/>
                </a:solidFill>
                <a:latin typeface="Calibri" pitchFamily="34" charset="0"/>
                <a:ea typeface="Calibri" pitchFamily="34" charset="-122"/>
                <a:cs typeface="Calibri" pitchFamily="34" charset="-120"/>
              </a:rPr>
              <a:t>Reading the chart</a:t>
            </a:r>
            <a:endParaRPr lang="en-US" sz="1400" dirty="0"/>
          </a:p>
          <a:p>
            <a:pPr marL="177800" indent="-177800">
              <a:spcAft>
                <a:spcPts val="500"/>
              </a:spcAft>
              <a:buSzPct val="100000"/>
              <a:buChar char="•"/>
            </a:pPr>
            <a:r>
              <a:rPr lang="en-US" sz="1300" dirty="0">
                <a:solidFill>
                  <a:srgbClr val="0B2545"/>
                </a:solidFill>
                <a:latin typeface="Calibri" pitchFamily="34" charset="0"/>
                <a:ea typeface="Calibri" pitchFamily="34" charset="-122"/>
                <a:cs typeface="Calibri" pitchFamily="34" charset="-120"/>
              </a:rPr>
              <a:t>109 of 167 countries sit above the line: rural ARC beat the national ARC</a:t>
            </a:r>
            <a:endParaRPr lang="en-US" sz="1400" dirty="0"/>
          </a:p>
          <a:p>
            <a:pPr marL="177800" indent="-177800">
              <a:spcAft>
                <a:spcPts val="500"/>
              </a:spcAft>
              <a:buSzPct val="100000"/>
              <a:buChar char="•"/>
            </a:pPr>
            <a:r>
              <a:rPr lang="en-US" sz="1300" dirty="0">
                <a:solidFill>
                  <a:srgbClr val="0B2545"/>
                </a:solidFill>
                <a:latin typeface="Calibri" pitchFamily="34" charset="0"/>
                <a:ea typeface="Calibri" pitchFamily="34" charset="-122"/>
                <a:cs typeface="Calibri" pitchFamily="34" charset="-120"/>
              </a:rPr>
              <a:t>Sub-Saharan Africa spans -1.0 to +2.4 pp a year nationally</a:t>
            </a:r>
            <a:endParaRPr lang="en-US" sz="1400" dirty="0"/>
          </a:p>
          <a:p>
            <a:pPr marL="177800" indent="-177800">
              <a:spcAft>
                <a:spcPts val="500"/>
              </a:spcAft>
              <a:buSzPct val="100000"/>
              <a:buChar char="•"/>
            </a:pPr>
            <a:r>
              <a:rPr lang="en-US" sz="1300" dirty="0">
                <a:solidFill>
                  <a:srgbClr val="0B2545"/>
                </a:solidFill>
                <a:latin typeface="Calibri" pitchFamily="34" charset="0"/>
                <a:ea typeface="Calibri" pitchFamily="34" charset="-122"/>
                <a:cs typeface="Calibri" pitchFamily="34" charset="-120"/>
              </a:rPr>
              <a:t>11 of the 13 countries with over 100 million people sit between 0 and 1 pp a year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EXTENSION  |  ILLUSTRATIVE PROJECTION</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At the 2015-2020 pace, Sub-Saharan Africa needs roughly 50 more years</a:t>
            </a:r>
            <a:endParaRPr lang="en-US" sz="2600" dirty="0"/>
          </a:p>
        </p:txBody>
      </p:sp>
      <p:pic>
        <p:nvPicPr>
          <p:cNvPr id="5" name="Image 0" descr="Illustrative years to reach full basic water access by region"/>
          <p:cNvPicPr>
            <a:picLocks noChangeAspect="1"/>
          </p:cNvPicPr>
          <p:nvPr/>
        </p:nvPicPr>
        <p:blipFill>
          <a:blip r:embed="rId3"/>
          <a:stretch>
            <a:fillRect/>
          </a:stretch>
        </p:blipFill>
        <p:spPr>
          <a:xfrm>
            <a:off x="457200" y="1572606"/>
            <a:ext cx="5394960" cy="2889827"/>
          </a:xfrm>
          <a:prstGeom prst="rect">
            <a:avLst/>
          </a:prstGeom>
        </p:spPr>
      </p:pic>
      <p:sp>
        <p:nvSpPr>
          <p:cNvPr id="6" name="Text 2"/>
          <p:cNvSpPr txBox="1"/>
          <p:nvPr/>
        </p:nvSpPr>
        <p:spPr>
          <a:xfrm>
            <a:off x="6126480" y="1371600"/>
            <a:ext cx="2560320" cy="3291840"/>
          </a:xfrm>
          <a:prstGeom prst="rect">
            <a:avLst/>
          </a:prstGeom>
          <a:noFill/>
          <a:ln/>
        </p:spPr>
        <p:txBody>
          <a:bodyPr wrap="square" lIns="0" tIns="0" rIns="0" bIns="0" rtlCol="0" anchor="t"/>
          <a:lstStyle/>
          <a:p>
            <a:pPr marL="0" indent="0">
              <a:spcAft>
                <a:spcPts val="600"/>
              </a:spcAft>
              <a:buNone/>
            </a:pPr>
            <a:r>
              <a:rPr lang="en-US" sz="1400" b="1" dirty="0">
                <a:solidFill>
                  <a:srgbClr val="0B2545"/>
                </a:solidFill>
                <a:latin typeface="Calibri" pitchFamily="34" charset="0"/>
                <a:ea typeface="Calibri" pitchFamily="34" charset="-122"/>
                <a:cs typeface="Calibri" pitchFamily="34" charset="-120"/>
              </a:rPr>
              <a:t>How to read it</a:t>
            </a:r>
            <a:endParaRPr lang="en-US" sz="1400" dirty="0"/>
          </a:p>
          <a:p>
            <a:pPr marL="0" indent="0">
              <a:spcAft>
                <a:spcPts val="1000"/>
              </a:spcAft>
              <a:buNone/>
            </a:pPr>
            <a:r>
              <a:rPr lang="en-US" sz="1300" dirty="0">
                <a:solidFill>
                  <a:srgbClr val="0B2545"/>
                </a:solidFill>
                <a:latin typeface="Calibri" pitchFamily="34" charset="0"/>
                <a:ea typeface="Calibri" pitchFamily="34" charset="-122"/>
                <a:cs typeface="Calibri" pitchFamily="34" charset="-120"/>
              </a:rPr>
              <a:t>Years to 100% = (100 minus average basic access) divided by average national ARC.</a:t>
            </a:r>
            <a:endParaRPr lang="en-US" sz="1400" dirty="0"/>
          </a:p>
          <a:p>
            <a:pPr marL="0" indent="0">
              <a:spcAft>
                <a:spcPts val="400"/>
              </a:spcAft>
              <a:buNone/>
            </a:pPr>
            <a:r>
              <a:rPr lang="en-US" sz="1400" b="1" dirty="0">
                <a:solidFill>
                  <a:srgbClr val="B83227"/>
                </a:solidFill>
                <a:latin typeface="Calibri" pitchFamily="34" charset="0"/>
                <a:ea typeface="Calibri" pitchFamily="34" charset="-122"/>
                <a:cs typeface="Calibri" pitchFamily="34" charset="-120"/>
              </a:rPr>
              <a:t>Caveat</a:t>
            </a:r>
            <a:endParaRPr lang="en-US" sz="1400" dirty="0"/>
          </a:p>
          <a:p>
            <a:pPr marL="0" indent="0">
              <a:buNone/>
            </a:pPr>
            <a:r>
              <a:rPr lang="en-US" sz="1300" dirty="0">
                <a:solidFill>
                  <a:srgbClr val="0B2545"/>
                </a:solidFill>
                <a:latin typeface="Calibri" pitchFamily="34" charset="0"/>
                <a:ea typeface="Calibri" pitchFamily="34" charset="-122"/>
                <a:cs typeface="Calibri" pitchFamily="34" charset="-120"/>
              </a:rPr>
              <a:t>Linear and unweighted. A signal about relative urgency, not a prediction.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800" b="1" dirty="0">
                <a:solidFill>
                  <a:srgbClr val="FFFFFF"/>
                </a:solidFill>
                <a:latin typeface="Cambria" pitchFamily="34" charset="0"/>
                <a:ea typeface="Cambria" pitchFamily="34" charset="-122"/>
                <a:cs typeface="Cambria" pitchFamily="34" charset="-120"/>
              </a:rPr>
              <a:t>What the data says, and what I would do next</a:t>
            </a:r>
            <a:endParaRPr lang="en-US" sz="2800" dirty="0"/>
          </a:p>
        </p:txBody>
      </p:sp>
      <p:sp>
        <p:nvSpPr>
          <p:cNvPr id="3" name="Takeaway card"/>
          <p:cNvSpPr/>
          <p:nvPr/>
        </p:nvSpPr>
        <p:spPr>
          <a:xfrm>
            <a:off x="457200" y="1463040"/>
            <a:ext cx="4023360" cy="1508760"/>
          </a:xfrm>
          <a:prstGeom prst="roundRect">
            <a:avLst>
              <a:gd name="adj" fmla="val 4848"/>
            </a:avLst>
          </a:prstGeom>
          <a:solidFill>
            <a:srgbClr val="13315C"/>
          </a:solidFill>
          <a:ln w="12700">
            <a:solidFill>
              <a:srgbClr val="13315C"/>
            </a:solidFill>
            <a:prstDash val="solid"/>
          </a:ln>
        </p:spPr>
      </p:sp>
      <p:sp>
        <p:nvSpPr>
          <p:cNvPr id="4" name="Number marker"/>
          <p:cNvSpPr/>
          <p:nvPr/>
        </p:nvSpPr>
        <p:spPr>
          <a:xfrm>
            <a:off x="640080" y="1645920"/>
            <a:ext cx="411480" cy="411480"/>
          </a:xfrm>
          <a:prstGeom prst="ellipse">
            <a:avLst/>
          </a:prstGeom>
          <a:solidFill>
            <a:srgbClr val="1B7F9E"/>
          </a:solidFill>
          <a:ln w="12700">
            <a:solidFill>
              <a:srgbClr val="1B7F9E"/>
            </a:solidFill>
            <a:prstDash val="solid"/>
          </a:ln>
        </p:spPr>
      </p:sp>
      <p:sp>
        <p:nvSpPr>
          <p:cNvPr id="5" name="Text 3"/>
          <p:cNvSpPr txBox="1"/>
          <p:nvPr/>
        </p:nvSpPr>
        <p:spPr>
          <a:xfrm>
            <a:off x="640080" y="164592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188720" y="1572768"/>
            <a:ext cx="3154680" cy="132588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Rural and low-income populations carry the gap</a:t>
            </a:r>
            <a:endParaRPr lang="en-US" sz="1600" dirty="0"/>
          </a:p>
          <a:p>
            <a:pPr marL="0" indent="0">
              <a:buNone/>
            </a:pPr>
            <a:r>
              <a:rPr lang="en-US" sz="1300" dirty="0">
                <a:solidFill>
                  <a:srgbClr val="D9E6EE"/>
                </a:solidFill>
                <a:latin typeface="Calibri" pitchFamily="34" charset="0"/>
                <a:ea typeface="Calibri" pitchFamily="34" charset="-122"/>
                <a:cs typeface="Calibri" pitchFamily="34" charset="-120"/>
              </a:rPr>
              <a:t>A 13-point rural deficit and a 37-point income deficit in basic access.</a:t>
            </a:r>
            <a:endParaRPr lang="en-US" sz="1600" dirty="0"/>
          </a:p>
        </p:txBody>
      </p:sp>
      <p:sp>
        <p:nvSpPr>
          <p:cNvPr id="7" name="Takeaway card"/>
          <p:cNvSpPr/>
          <p:nvPr/>
        </p:nvSpPr>
        <p:spPr>
          <a:xfrm>
            <a:off x="4663440" y="1463040"/>
            <a:ext cx="4023360" cy="1508760"/>
          </a:xfrm>
          <a:prstGeom prst="roundRect">
            <a:avLst>
              <a:gd name="adj" fmla="val 4848"/>
            </a:avLst>
          </a:prstGeom>
          <a:solidFill>
            <a:srgbClr val="13315C"/>
          </a:solidFill>
          <a:ln w="12700">
            <a:solidFill>
              <a:srgbClr val="13315C"/>
            </a:solidFill>
            <a:prstDash val="solid"/>
          </a:ln>
        </p:spPr>
      </p:sp>
      <p:sp>
        <p:nvSpPr>
          <p:cNvPr id="8" name="Number marker"/>
          <p:cNvSpPr/>
          <p:nvPr/>
        </p:nvSpPr>
        <p:spPr>
          <a:xfrm>
            <a:off x="4846320" y="1645920"/>
            <a:ext cx="411480" cy="411480"/>
          </a:xfrm>
          <a:prstGeom prst="ellipse">
            <a:avLst/>
          </a:prstGeom>
          <a:solidFill>
            <a:srgbClr val="1B7F9E"/>
          </a:solidFill>
          <a:ln w="12700">
            <a:solidFill>
              <a:srgbClr val="1B7F9E"/>
            </a:solidFill>
            <a:prstDash val="solid"/>
          </a:ln>
        </p:spPr>
      </p:sp>
      <p:sp>
        <p:nvSpPr>
          <p:cNvPr id="9" name="Text 7"/>
          <p:cNvSpPr txBox="1"/>
          <p:nvPr/>
        </p:nvSpPr>
        <p:spPr>
          <a:xfrm>
            <a:off x="4846320" y="164592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5394960" y="1572768"/>
            <a:ext cx="3154680" cy="132588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Progress is real but uneven</a:t>
            </a:r>
            <a:endParaRPr lang="en-US" sz="1600" dirty="0"/>
          </a:p>
          <a:p>
            <a:pPr marL="0" indent="0">
              <a:buNone/>
            </a:pPr>
            <a:r>
              <a:rPr lang="en-US" sz="1300" dirty="0">
                <a:solidFill>
                  <a:srgbClr val="D9E6EE"/>
                </a:solidFill>
                <a:latin typeface="Calibri" pitchFamily="34" charset="0"/>
                <a:ea typeface="Calibri" pitchFamily="34" charset="-122"/>
                <a:cs typeface="Calibri" pitchFamily="34" charset="-120"/>
              </a:rPr>
              <a:t>135 countries improved; 32 stalled or declined; Sub-Saharan Africa gains fastest but starts lowest.</a:t>
            </a:r>
            <a:endParaRPr lang="en-US" sz="1600" dirty="0"/>
          </a:p>
        </p:txBody>
      </p:sp>
      <p:sp>
        <p:nvSpPr>
          <p:cNvPr id="11" name="Takeaway card"/>
          <p:cNvSpPr/>
          <p:nvPr/>
        </p:nvSpPr>
        <p:spPr>
          <a:xfrm>
            <a:off x="457200" y="3108960"/>
            <a:ext cx="4023360" cy="1508760"/>
          </a:xfrm>
          <a:prstGeom prst="roundRect">
            <a:avLst>
              <a:gd name="adj" fmla="val 4848"/>
            </a:avLst>
          </a:prstGeom>
          <a:solidFill>
            <a:srgbClr val="13315C"/>
          </a:solidFill>
          <a:ln w="12700">
            <a:solidFill>
              <a:srgbClr val="13315C"/>
            </a:solidFill>
            <a:prstDash val="solid"/>
          </a:ln>
        </p:spPr>
      </p:sp>
      <p:sp>
        <p:nvSpPr>
          <p:cNvPr id="12" name="Number marker"/>
          <p:cNvSpPr/>
          <p:nvPr/>
        </p:nvSpPr>
        <p:spPr>
          <a:xfrm>
            <a:off x="640080" y="3291840"/>
            <a:ext cx="411480" cy="411480"/>
          </a:xfrm>
          <a:prstGeom prst="ellipse">
            <a:avLst/>
          </a:prstGeom>
          <a:solidFill>
            <a:srgbClr val="1B7F9E"/>
          </a:solidFill>
          <a:ln w="12700">
            <a:solidFill>
              <a:srgbClr val="1B7F9E"/>
            </a:solidFill>
            <a:prstDash val="solid"/>
          </a:ln>
        </p:spPr>
      </p:sp>
      <p:sp>
        <p:nvSpPr>
          <p:cNvPr id="13" name="Text 11"/>
          <p:cNvSpPr txBox="1"/>
          <p:nvPr/>
        </p:nvSpPr>
        <p:spPr>
          <a:xfrm>
            <a:off x="640080" y="32918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188720" y="3218688"/>
            <a:ext cx="3154680" cy="132588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Targeting beats averaging</a:t>
            </a:r>
            <a:endParaRPr lang="en-US" sz="1600" dirty="0"/>
          </a:p>
          <a:p>
            <a:pPr marL="0" indent="0">
              <a:buNone/>
            </a:pPr>
            <a:r>
              <a:rPr lang="en-US" sz="1300" dirty="0">
                <a:solidFill>
                  <a:srgbClr val="D9E6EE"/>
                </a:solidFill>
                <a:latin typeface="Calibri" pitchFamily="34" charset="0"/>
                <a:ea typeface="Calibri" pitchFamily="34" charset="-122"/>
                <a:cs typeface="Calibri" pitchFamily="34" charset="-120"/>
              </a:rPr>
              <a:t>Aim investment at rural areas of low-income, low-urbanisation, mostly Sub-Saharan countries.</a:t>
            </a:r>
            <a:endParaRPr lang="en-US" sz="1600" dirty="0"/>
          </a:p>
        </p:txBody>
      </p:sp>
      <p:sp>
        <p:nvSpPr>
          <p:cNvPr id="15" name="Takeaway card"/>
          <p:cNvSpPr/>
          <p:nvPr/>
        </p:nvSpPr>
        <p:spPr>
          <a:xfrm>
            <a:off x="4663440" y="3108960"/>
            <a:ext cx="4023360" cy="1508760"/>
          </a:xfrm>
          <a:prstGeom prst="roundRect">
            <a:avLst>
              <a:gd name="adj" fmla="val 4848"/>
            </a:avLst>
          </a:prstGeom>
          <a:solidFill>
            <a:srgbClr val="13315C"/>
          </a:solidFill>
          <a:ln w="12700">
            <a:solidFill>
              <a:srgbClr val="13315C"/>
            </a:solidFill>
            <a:prstDash val="solid"/>
          </a:ln>
        </p:spPr>
      </p:sp>
      <p:sp>
        <p:nvSpPr>
          <p:cNvPr id="16" name="Number marker"/>
          <p:cNvSpPr/>
          <p:nvPr/>
        </p:nvSpPr>
        <p:spPr>
          <a:xfrm>
            <a:off x="4846320" y="3291840"/>
            <a:ext cx="411480" cy="411480"/>
          </a:xfrm>
          <a:prstGeom prst="ellipse">
            <a:avLst/>
          </a:prstGeom>
          <a:solidFill>
            <a:srgbClr val="1B7F9E"/>
          </a:solidFill>
          <a:ln w="12700">
            <a:solidFill>
              <a:srgbClr val="1B7F9E"/>
            </a:solidFill>
            <a:prstDash val="solid"/>
          </a:ln>
        </p:spPr>
      </p:sp>
      <p:sp>
        <p:nvSpPr>
          <p:cNvPr id="17" name="Text 15"/>
          <p:cNvSpPr txBox="1"/>
          <p:nvPr/>
        </p:nvSpPr>
        <p:spPr>
          <a:xfrm>
            <a:off x="4846320" y="3291840"/>
            <a:ext cx="4114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5394960" y="3218688"/>
            <a:ext cx="3154680" cy="1325880"/>
          </a:xfrm>
          <a:prstGeom prst="rect">
            <a:avLst/>
          </a:prstGeom>
          <a:noFill/>
          <a:ln/>
        </p:spPr>
        <p:txBody>
          <a:bodyPr wrap="square" lIns="0" tIns="0" rIns="0" bIns="0" rtlCol="0" anchor="t"/>
          <a:lstStyle/>
          <a:p>
            <a:pPr marL="0" indent="0">
              <a:spcAft>
                <a:spcPts val="400"/>
              </a:spcAft>
              <a:buNone/>
            </a:pPr>
            <a:r>
              <a:rPr lang="en-US" sz="1600" b="1" dirty="0">
                <a:solidFill>
                  <a:srgbClr val="FFFFFF"/>
                </a:solidFill>
                <a:latin typeface="Calibri" pitchFamily="34" charset="0"/>
                <a:ea typeface="Calibri" pitchFamily="34" charset="-122"/>
                <a:cs typeface="Calibri" pitchFamily="34" charset="-120"/>
              </a:rPr>
              <a:t>Next: weight, extend, deepen</a:t>
            </a:r>
            <a:endParaRPr lang="en-US" sz="1600" dirty="0"/>
          </a:p>
          <a:p>
            <a:pPr marL="0" indent="0">
              <a:buNone/>
            </a:pPr>
            <a:r>
              <a:rPr lang="en-US" sz="1300" dirty="0">
                <a:solidFill>
                  <a:srgbClr val="D9E6EE"/>
                </a:solidFill>
                <a:latin typeface="Calibri" pitchFamily="34" charset="0"/>
                <a:ea typeface="Calibri" pitchFamily="34" charset="-122"/>
                <a:cs typeface="Calibri" pitchFamily="34" charset="-120"/>
              </a:rPr>
              <a:t>Population-weight the averages, add the safely managed level, and use more than two years.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7B4"/>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Eyebrow"/>
          <p:cNvSpPr txBox="1"/>
          <p:nvPr/>
        </p:nvSpPr>
        <p:spPr>
          <a:xfrm>
            <a:off x="457200" y="228600"/>
            <a:ext cx="8229600" cy="228600"/>
          </a:xfrm>
          <a:prstGeom prst="rect">
            <a:avLst/>
          </a:prstGeom>
          <a:noFill/>
          <a:ln/>
        </p:spPr>
        <p:txBody>
          <a:bodyPr wrap="square" lIns="0" tIns="0" rIns="0" bIns="0" rtlCol="0" anchor="ctr"/>
          <a:lstStyle/>
          <a:p>
            <a:pPr marL="0" indent="0">
              <a:buNone/>
            </a:pPr>
            <a:r>
              <a:rPr lang="en-US" sz="1100" b="1" kern="0" spc="200" dirty="0">
                <a:solidFill>
                  <a:srgbClr val="1B7F9E"/>
                </a:solidFill>
                <a:latin typeface="Calibri" pitchFamily="34" charset="0"/>
                <a:ea typeface="Calibri" pitchFamily="34" charset="-122"/>
                <a:cs typeface="Calibri" pitchFamily="34" charset="-120"/>
              </a:rPr>
              <a:t>APPENDIX</a:t>
            </a:r>
            <a:endParaRPr lang="en-US" sz="1100" dirty="0"/>
          </a:p>
        </p:txBody>
      </p:sp>
      <p:sp>
        <p:nvSpPr>
          <p:cNvPr id="3" name="Text 0"/>
          <p:cNvSpPr>
            <a:spLocks noGrp="1"/>
          </p:cNvSpPr>
          <p:nvPr>
            <p:ph type="title" idx="100" hasCustomPrompt="1"/>
          </p:nvPr>
        </p:nvSpPr>
        <p:spPr>
          <a:xfrm>
            <a:off x="457200" y="502920"/>
            <a:ext cx="8229600" cy="777240"/>
          </a:xfrm>
          <a:prstGeom prst="rect">
            <a:avLst/>
          </a:prstGeom>
          <a:noFill/>
          <a:ln/>
        </p:spPr>
        <p:txBody>
          <a:bodyPr wrap="square" lIns="0" tIns="0" rIns="0" bIns="0" rtlCol="0" anchor="t"/>
          <a:lstStyle/>
          <a:p>
            <a:pPr marL="0" indent="0" algn="l">
              <a:buNone/>
            </a:pPr>
            <a:r>
              <a:rPr lang="en-US" sz="2600" b="1" dirty="0">
                <a:solidFill>
                  <a:srgbClr val="0B2545"/>
                </a:solidFill>
                <a:latin typeface="Cambria" pitchFamily="34" charset="0"/>
                <a:ea typeface="Cambria" pitchFamily="34" charset="-122"/>
                <a:cs typeface="Cambria" pitchFamily="34" charset="-120"/>
              </a:rPr>
              <a:t>The 19 features I engineered</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3291840"/>
        </p:xfrm>
        <a:graphic>
          <a:graphicData uri="http://schemas.openxmlformats.org/drawingml/2006/table">
            <a:tbl>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Part</a:t>
                      </a:r>
                      <a:endParaRPr lang="en-US" sz="12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1</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value_cnt</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COUNTA of each row; should equal 16</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1</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pop_u_val, pop_r</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Urban head count (pop_n x pop_u / 100); rural share (100 - pop_u)</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1</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pop_n (m), wat_bas_n (rounded)</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Population rounded up to millions; basic access capped at 100%</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3"/>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1</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pop_u (rounded), pop_r (rounded)</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Shares rounded to whole numbers for charting</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2</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y_diff</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Years between a country's two observations</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5"/>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2</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ARC_n, ARC_r, ARC_u</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Annual rate of change in basic access (pp per year)</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2</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wat_bas_x (rounded) x3, ARC_x_full x3</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Rounded basic access and full-access flags</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1F6F9"/>
                    </a:solidFill>
                  </a:tcPr>
                </a:tc>
                <a:extLst>
                  <a:ext uri="{0D108BD9-81ED-4DB2-BD59-A6C34878D82A}">
                    <a16:rowId xmlns:a16="http://schemas.microsoft.com/office/drawing/2014/main" val="10007"/>
                  </a:ext>
                </a:extLst>
              </a:tr>
              <a:tr h="365760">
                <a:tc>
                  <a:txBody>
                    <a:bodyPr/>
                    <a:lstStyle/>
                    <a:p>
                      <a:pPr marL="0" indent="0">
                        <a:buNone/>
                      </a:pPr>
                      <a:r>
                        <a:rPr lang="en-US" sz="1100" b="1" dirty="0">
                          <a:solidFill>
                            <a:srgbClr val="0B2545"/>
                          </a:solidFill>
                          <a:latin typeface="Calibri" pitchFamily="34" charset="0"/>
                          <a:ea typeface="Calibri" pitchFamily="34" charset="-122"/>
                          <a:cs typeface="Calibri" pitchFamily="34" charset="-120"/>
                        </a:rPr>
                        <a:t>Part 2</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ourier New" pitchFamily="34" charset="0"/>
                          <a:ea typeface="Courier New" pitchFamily="34" charset="-122"/>
                          <a:cs typeface="Courier New" pitchFamily="34" charset="-120"/>
                        </a:rPr>
                        <a:t>ARC_diff, region</a:t>
                      </a:r>
                      <a:endParaRPr lang="en-US" sz="1100" dirty="0">
                        <a:latin typeface="Courier New" charset="0"/>
                        <a:ea typeface="Courier New" charset="0"/>
                        <a:cs typeface="Courier New"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tc>
                  <a:txBody>
                    <a:bodyPr/>
                    <a:lstStyle/>
                    <a:p>
                      <a:pPr marL="0" indent="0">
                        <a:buNone/>
                      </a:pPr>
                      <a:r>
                        <a:rPr lang="en-US" sz="1100" dirty="0">
                          <a:solidFill>
                            <a:srgbClr val="0B2545"/>
                          </a:solidFill>
                          <a:latin typeface="Calibri" pitchFamily="34" charset="0"/>
                          <a:ea typeface="Calibri" pitchFamily="34" charset="-122"/>
                          <a:cs typeface="Calibri" pitchFamily="34" charset="-120"/>
                        </a:rPr>
                        <a:t>Rural minus urban ARC; region by lookup on country name</a:t>
                      </a:r>
                      <a:endParaRPr lang="en-US" sz="1100" dirty="0">
                        <a:latin typeface="Calibri" charset="0"/>
                        <a:ea typeface="Calibri" charset="0"/>
                        <a:cs typeface="Calibri" charset="0"/>
                      </a:endParaRPr>
                    </a:p>
                  </a:txBody>
                  <a:tcPr marL="73152" marR="73152" marT="27432" marB="27432">
                    <a:lnL w="6350" cap="flat" cmpd="sng" algn="ctr">
                      <a:solidFill>
                        <a:srgbClr val="D5DFE6"/>
                      </a:solidFill>
                      <a:prstDash val="solid"/>
                      <a:round/>
                      <a:headEnd type="none" w="med" len="med"/>
                      <a:tailEnd type="none" w="med" len="med"/>
                    </a:lnL>
                    <a:lnR w="6350" cap="flat" cmpd="sng" algn="ctr">
                      <a:solidFill>
                        <a:srgbClr val="D5DFE6"/>
                      </a:solidFill>
                      <a:prstDash val="solid"/>
                      <a:round/>
                      <a:headEnd type="none" w="med" len="med"/>
                      <a:tailEnd type="none" w="med" len="med"/>
                    </a:lnR>
                    <a:lnT w="6350" cap="flat" cmpd="sng" algn="ctr">
                      <a:solidFill>
                        <a:srgbClr val="D5DFE6"/>
                      </a:solidFill>
                      <a:prstDash val="solid"/>
                      <a:round/>
                      <a:headEnd type="none" w="med" len="med"/>
                      <a:tailEnd type="none" w="med" len="med"/>
                    </a:lnT>
                    <a:lnB w="6350" cap="flat" cmpd="sng" algn="ctr">
                      <a:solidFill>
                        <a:srgbClr val="D5DF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B"/>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theme/theme1.xml><?xml version="1.0" encoding="utf-8"?>
<a:theme xmlns:a="http://schemas.openxmlformats.org/drawingml/2006/main" name="Water Access Portfolio">
  <a:themeElements>
    <a:clrScheme name="Water Access Portfolio">
      <a:dk1>
        <a:srgbClr val="0B2545"/>
      </a:dk1>
      <a:lt1>
        <a:srgbClr val="FFFFFF"/>
      </a:lt1>
      <a:dk2>
        <a:srgbClr val="13315C"/>
      </a:dk2>
      <a:lt2>
        <a:srgbClr val="F1F6F9"/>
      </a:lt2>
      <a:accent1>
        <a:srgbClr val="1B7F9E"/>
      </a:accent1>
      <a:accent2>
        <a:srgbClr val="F2B134"/>
      </a:accent2>
      <a:accent3>
        <a:srgbClr val="E07A3F"/>
      </a:accent3>
      <a:accent4>
        <a:srgbClr val="B83227"/>
      </a:accent4>
      <a:accent5>
        <a:srgbClr val="5FB0C9"/>
      </a:accent5>
      <a:accent6>
        <a:srgbClr val="9AA7B4"/>
      </a:accent6>
      <a:hlink>
        <a:srgbClr val="1B7F9E"/>
      </a:hlink>
      <a:folHlink>
        <a:srgbClr val="5B6B7B"/>
      </a:folHlink>
    </a:clrScheme>
    <a:fontScheme name="Water Access Portfol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2750</Words>
  <Application>Microsoft Office PowerPoint</Application>
  <PresentationFormat>On-screen Show (16:9)</PresentationFormat>
  <Paragraphs>311</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Water Access Portfolio</vt:lpstr>
      <vt:lpstr>Who still lacks safe drinking water, and is it improving?</vt:lpstr>
      <vt:lpstr>A two-part study of access to drinking water</vt:lpstr>
      <vt:lpstr>Four findings: a rural gap, an income gap, uneven progress, one region behind</vt:lpstr>
      <vt:lpstr>From messy imports to measured insight in four stages</vt:lpstr>
      <vt:lpstr>Cleaning came first: three import problems fixed</vt:lpstr>
      <vt:lpstr>The dataset covers 99.6% of the world's people</vt:lpstr>
      <vt:lpstr>Population size says nothing about how urban a country is</vt:lpstr>
      <vt:lpstr>Rural access is both lower and far less even than urban</vt:lpstr>
      <vt:lpstr>Where basic water is missing, rural people fall to the lowest rungs</vt:lpstr>
      <vt:lpstr>Access tracks how rural a country is, not how many people live there</vt:lpstr>
      <vt:lpstr>Income is the sharpest divider: low-income countries lag by 37 points</vt:lpstr>
      <vt:lpstr>Urbanisation and income together separate the countries</vt:lpstr>
      <vt:lpstr>The Part two workbook file is really two snapshots: 2015 and 2020</vt:lpstr>
      <vt:lpstr>ARC turns two snapshots into a yearly rate of progress</vt:lpstr>
      <vt:lpstr>Access improved in 135 of 231 countries, but rural gaps in the data limit the story</vt:lpstr>
      <vt:lpstr>Rural access grew faster than urban in two out of three countries</vt:lpstr>
      <vt:lpstr>Sub-Saharan Africa is improving fastest, from the lowest base</vt:lpstr>
      <vt:lpstr>Sub-Saharan Africa has the widest range of national ARC</vt:lpstr>
      <vt:lpstr>At the 2015-2020 pace, Sub-Saharan Africa needs roughly 50 more years</vt:lpstr>
      <vt:lpstr>What the data says, and what I would do next</vt:lpstr>
      <vt:lpstr>The 19 features I engineered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to Safe Drinking Water - Data Analysis Portfolio</dc:title>
  <dc:subject>WHO/UNICEF JMP estimates on the use of water (SDG 6)</dc:subject>
  <dc:creator>Joshua</dc:creator>
  <cp:lastModifiedBy>Joshua Immanuel</cp:lastModifiedBy>
  <cp:revision>3</cp:revision>
  <dcterms:created xsi:type="dcterms:W3CDTF">2026-10-13T19:29:46Z</dcterms:created>
  <dcterms:modified xsi:type="dcterms:W3CDTF">2026-10-14T16:56:47Z</dcterms:modified>
</cp:coreProperties>
</file>